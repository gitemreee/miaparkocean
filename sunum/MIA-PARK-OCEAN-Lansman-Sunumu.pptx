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₺/m²</c:v>
                </c:pt>
              </c:strCache>
            </c:strRef>
          </c:tx>
          <c:spPr>
            <a:solidFill>
              <a:srgbClr val="0758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428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  <c:pt idx="5">
                    <c:v>2031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89000</c:v>
                </c:pt>
                <c:pt idx="1">
                  <c:v>111250</c:v>
                </c:pt>
                <c:pt idx="2">
                  <c:v>139063</c:v>
                </c:pt>
                <c:pt idx="3">
                  <c:v>173828</c:v>
                </c:pt>
                <c:pt idx="4">
                  <c:v>217285</c:v>
                </c:pt>
                <c:pt idx="5">
                  <c:v>271606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428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3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Açılış. Kendinizi ve kooperatifi tanıtın. Sunum 20 dakika, sonrasında soru-cevap. Bugünün amacı: MİA PARK OCEAN'ı satabilecek kadar iyi anlatmak.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Gündemi hızlı geçin. Vurgu 3. ve 6. başlıkta: ödeme modeli ve iş birliği. Emlakçı bu ikisini anlarsa gerisi kolay.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600 rakamını vurgulayın: emlakçı için sürekli stok demek. Dört tip, her müşteri profiline bir cevap.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Mesafeleri ezberleyin; en çok D100 ve şehir hastanesi sorulur. İzmit Sahili süresi teyide açık, kesin konuşmayın.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472 adet 1+0 — hacim burada. 16'şar adetlik bahçeli tipler gerçekten kıt; 'sınırlı sayıda' derken bunu kastedin.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ÖNEMLİ: Süs havuzu ile yüzme havuzunu karıştırmayın. Yüzme havuzu sözü verilirse teslimde sorun çıkar.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Sunumun kalbi. Emlakçı buradan tek cümle götürsün: bankaya gitmeden, faiz ödemeden, kefil bulmadan ev. Kredisi çıkmayan müşteri sizin müşteriniz.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'Öngörü' kelimesini mutlaka kullanın. Taahhüt gibi anlatılırsa hem etik hem hukuki sorun olur.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Emlakçının en çok takıldığı yer. 'Kooperatif riskli mi?' sorusuna dört maddeyle cevap verin. KOOPBİS'i telefonda canlı gösterin — en ikna edici hamle.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slaydı fotoğraflatın. Sahada en çok gelen dört itiraz. Cevapları ezberden değil kendi cümlelerinizle söyleyin.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Portföyünüzdeki kredisi çıkmayan müşterileri hatırlayın — bu projenin asıl hedefi onlar. Reddedilen kredi başvurusu burada satışa dönüyor.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Somut olun: hangi dosyayı ne zaman göndereceğinizi söyleyin. Emlakçı eli boş dönmesin — bugün en az katalog ve site linkini verin.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DİKKAT: Komisyon oranı, hakediş zamanı ve müşteri koruma süresi BOŞ. Bu üç rakamı sunumdan önce doldurun; emlakçının en çok merak ettiği slayt bu, boş kalırsa güven kaybı olur.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Süreci dört adımda anlatın. Tapu sorusu mutlaka gelir; ferdileşme kelimesini kullanın ve inşaat bitiminde olduğunu net söyleyin.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Kapanış: net çağrı yapın. Kayıt formunu dağıtın, bugün kaydolan emlakçıya katalog ve görsel setini akşam gönderin.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jpg"/><Relationship Id="rId4" Type="http://schemas.openxmlformats.org/officeDocument/2006/relationships/image" Target="../media/image-11-2.png"/><Relationship Id="rId5" Type="http://schemas.openxmlformats.org/officeDocument/2006/relationships/image" Target="../media/image-11-5.jpg"/><Relationship Id="rId6" Type="http://schemas.openxmlformats.org/officeDocument/2006/relationships/image" Target="../media/image-11-2.png"/><Relationship Id="rId7" Type="http://schemas.openxmlformats.org/officeDocument/2006/relationships/image" Target="../media/image-11-7.jpg"/><Relationship Id="rId8" Type="http://schemas.openxmlformats.org/officeDocument/2006/relationships/image" Target="../media/image-11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image" Target="../media/image-12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aparkocean/sunum/kaynak/gec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user/miaparkocean/sunum/kaynak/perde-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4" name="Image 2" descr="/home/user/miaparkocean/sunum/kaynak/logo-beyaz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2286000" cy="157276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66928" y="33101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80" kern="0" dirty="0">
                <a:solidFill>
                  <a:srgbClr val="48A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LANSMAN · İŞ ORTAKLARI SUNUMU</a:t>
            </a:r>
            <a:endParaRPr lang="en-US" sz="1150" dirty="0"/>
          </a:p>
        </p:txBody>
      </p:sp>
      <p:sp>
        <p:nvSpPr>
          <p:cNvPr id="6" name="Text 1"/>
          <p:cNvSpPr/>
          <p:nvPr/>
        </p:nvSpPr>
        <p:spPr>
          <a:xfrm>
            <a:off x="566928" y="3639312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Lüks artık ulaşılabilir.</a:t>
            </a:r>
            <a:endParaRPr lang="en-US" sz="4800" dirty="0"/>
          </a:p>
        </p:txBody>
      </p:sp>
      <p:sp>
        <p:nvSpPr>
          <p:cNvPr id="7" name="Text 2"/>
          <p:cNvSpPr/>
          <p:nvPr/>
        </p:nvSpPr>
        <p:spPr>
          <a:xfrm>
            <a:off x="566928" y="464515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D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İzmit MİA Bölgesi'nde 600 daire  ·  Tasarrufa dayalı faizsiz finansman</a:t>
            </a:r>
            <a:endParaRPr lang="en-US" sz="1700" dirty="0"/>
          </a:p>
        </p:txBody>
      </p:sp>
      <p:sp>
        <p:nvSpPr>
          <p:cNvPr id="8" name="Shape 3"/>
          <p:cNvSpPr/>
          <p:nvPr/>
        </p:nvSpPr>
        <p:spPr>
          <a:xfrm>
            <a:off x="566928" y="5349240"/>
            <a:ext cx="416052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48ABC5">
                <a:alpha val="60000"/>
              </a:srgbClr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566928" y="534924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Ağustos 2026  ·  Emex Otel, Kocaeli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566928" y="61081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A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S.S. Yahya Kaptan Birlik Yapı Kooperatifi   ·   Ocean Gayrimenkul, Tek Yetkili Satıcı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aparkocean/sunum/kaynak/hav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75488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49240" y="61264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80" kern="0" dirty="0">
                <a:solidFill>
                  <a:srgbClr val="1A7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5349240" y="923544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Yirmi dakikada altı başlık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349240" y="1810512"/>
            <a:ext cx="402336" cy="402336"/>
          </a:xfrm>
          <a:prstGeom prst="ellipse">
            <a:avLst/>
          </a:prstGeom>
          <a:solidFill>
            <a:srgbClr val="075878"/>
          </a:solidFill>
          <a:ln/>
        </p:spPr>
      </p:sp>
      <p:sp>
        <p:nvSpPr>
          <p:cNvPr id="6" name="Text 3"/>
          <p:cNvSpPr/>
          <p:nvPr/>
        </p:nvSpPr>
        <p:spPr>
          <a:xfrm>
            <a:off x="5349240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25312" y="17373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0" y="177393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daire, dört yaşam tipi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349240" y="2587752"/>
            <a:ext cx="402336" cy="402336"/>
          </a:xfrm>
          <a:prstGeom prst="ellipse">
            <a:avLst/>
          </a:prstGeom>
          <a:solidFill>
            <a:srgbClr val="075878"/>
          </a:solidFill>
          <a:ln/>
        </p:spPr>
      </p:sp>
      <p:sp>
        <p:nvSpPr>
          <p:cNvPr id="10" name="Text 7"/>
          <p:cNvSpPr/>
          <p:nvPr/>
        </p:nvSpPr>
        <p:spPr>
          <a:xfrm>
            <a:off x="5349240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25312" y="25146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Konum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0" y="255117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D100'e 1 dk, merkeze 5 dk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349240" y="3364992"/>
            <a:ext cx="402336" cy="402336"/>
          </a:xfrm>
          <a:prstGeom prst="ellipse">
            <a:avLst/>
          </a:prstGeom>
          <a:solidFill>
            <a:srgbClr val="075878"/>
          </a:solidFill>
          <a:ln/>
        </p:spPr>
      </p:sp>
      <p:sp>
        <p:nvSpPr>
          <p:cNvPr id="14" name="Text 11"/>
          <p:cNvSpPr/>
          <p:nvPr/>
        </p:nvSpPr>
        <p:spPr>
          <a:xfrm>
            <a:off x="5349240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25312" y="32918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Ödeme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29600" y="33284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 yok, faiz yok, kefil yok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349240" y="4142232"/>
            <a:ext cx="402336" cy="402336"/>
          </a:xfrm>
          <a:prstGeom prst="ellipse">
            <a:avLst/>
          </a:prstGeom>
          <a:solidFill>
            <a:srgbClr val="1A7496"/>
          </a:solidFill>
          <a:ln/>
        </p:spPr>
      </p:sp>
      <p:sp>
        <p:nvSpPr>
          <p:cNvPr id="18" name="Text 15"/>
          <p:cNvSpPr/>
          <p:nvPr/>
        </p:nvSpPr>
        <p:spPr>
          <a:xfrm>
            <a:off x="5349240" y="4142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25312" y="40690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Yatırım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229600" y="410565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m² fiyatı ve beş yıllık projeksiyon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349240" y="4919472"/>
            <a:ext cx="402336" cy="402336"/>
          </a:xfrm>
          <a:prstGeom prst="ellipse">
            <a:avLst/>
          </a:prstGeom>
          <a:solidFill>
            <a:srgbClr val="1A7496"/>
          </a:solidFill>
          <a:ln/>
        </p:spPr>
      </p:sp>
      <p:sp>
        <p:nvSpPr>
          <p:cNvPr id="22" name="Text 19"/>
          <p:cNvSpPr/>
          <p:nvPr/>
        </p:nvSpPr>
        <p:spPr>
          <a:xfrm>
            <a:off x="5349240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925312" y="48463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Güvence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229600" y="488289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Kooperatif neden devlet denetiminde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349240" y="5696712"/>
            <a:ext cx="402336" cy="402336"/>
          </a:xfrm>
          <a:prstGeom prst="ellipse">
            <a:avLst/>
          </a:prstGeom>
          <a:solidFill>
            <a:srgbClr val="1A7496"/>
          </a:solidFill>
          <a:ln/>
        </p:spPr>
      </p:sp>
      <p:sp>
        <p:nvSpPr>
          <p:cNvPr id="26" name="Text 23"/>
          <p:cNvSpPr/>
          <p:nvPr/>
        </p:nvSpPr>
        <p:spPr>
          <a:xfrm>
            <a:off x="5349240" y="5696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25312" y="56235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İş birliği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29600" y="566013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ne veriyoruz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aparkocean/sunum/kaynak/gunduz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user/miaparkocean/sunum/kaynak/perde-yar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5669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80" kern="0" dirty="0">
                <a:solidFill>
                  <a:srgbClr val="48A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KÜNYESİ</a:t>
            </a:r>
            <a:endParaRPr lang="en-US" sz="1150" dirty="0"/>
          </a:p>
        </p:txBody>
      </p:sp>
      <p:sp>
        <p:nvSpPr>
          <p:cNvPr id="5" name="Text 1"/>
          <p:cNvSpPr/>
          <p:nvPr/>
        </p:nvSpPr>
        <p:spPr>
          <a:xfrm>
            <a:off x="566928" y="89611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daire, dört yaşam tipi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566928" y="4069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566928" y="49560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daire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3355848" y="4069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3355848" y="49560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Yaşam tipi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144768" y="4069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28–100</a:t>
            </a:r>
            <a:endParaRPr lang="en-US" sz="3800" dirty="0"/>
          </a:p>
        </p:txBody>
      </p:sp>
      <p:sp>
        <p:nvSpPr>
          <p:cNvPr id="11" name="Text 7"/>
          <p:cNvSpPr/>
          <p:nvPr/>
        </p:nvSpPr>
        <p:spPr>
          <a:xfrm>
            <a:off x="6144768" y="49560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m² brüt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933688" y="4069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4800" dirty="0"/>
          </a:p>
        </p:txBody>
      </p:sp>
      <p:sp>
        <p:nvSpPr>
          <p:cNvPr id="13" name="Text 9"/>
          <p:cNvSpPr/>
          <p:nvPr/>
        </p:nvSpPr>
        <p:spPr>
          <a:xfrm>
            <a:off x="8933688" y="49560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sabit taksit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66928" y="58704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S.S. Yahya Kaptan Birlik Yapı Kooperatifi   ·   Ocean Gayrimenkul, Tek Yetkili Satıcı   ·   İzmit MİA Bölgesi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aparkocean/sunum/kaynak/soka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34072" y="0"/>
            <a:ext cx="475488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1264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80" kern="0" dirty="0">
                <a:solidFill>
                  <a:srgbClr val="1A7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566928" y="923544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yere yakın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66928" y="1783080"/>
            <a:ext cx="3035808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6384" y="1783080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D100 Karayolu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414016" y="1783080"/>
            <a:ext cx="1005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7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dk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813048" y="1783080"/>
            <a:ext cx="3035808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032504" y="1783080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İzmit Sahili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660136" y="1783080"/>
            <a:ext cx="1005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7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dk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66928" y="2724912"/>
            <a:ext cx="3035808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6384" y="2724912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Burada AVM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414016" y="2724912"/>
            <a:ext cx="1005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7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dk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813048" y="2724912"/>
            <a:ext cx="3035808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032504" y="2724912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Şehir Merkezi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0136" y="2724912"/>
            <a:ext cx="1005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7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dk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66928" y="3666744"/>
            <a:ext cx="3035808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86384" y="3666744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Şehir Hastanesi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414016" y="3666744"/>
            <a:ext cx="1005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7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dk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3813048" y="3666744"/>
            <a:ext cx="3035808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032504" y="3666744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Otoyolu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660136" y="3666744"/>
            <a:ext cx="1005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7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dk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6928" y="4608576"/>
            <a:ext cx="3035808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86384" y="4608576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AVM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2414016" y="4608576"/>
            <a:ext cx="1005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7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dk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3813048" y="4608576"/>
            <a:ext cx="3035808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032504" y="4608576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Kocaeli Üniversitesi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660136" y="4608576"/>
            <a:ext cx="1005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7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dk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66928" y="5650992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İzmit'in gelişim aksı MİA Bölgesi. Üniversite, hastane, AVM ve ana yollar dakikalar içinde.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aparkocean/sunum/kaynak/study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3047238" cy="2286000"/>
          </a:xfrm>
          <a:prstGeom prst="rect">
            <a:avLst/>
          </a:prstGeom>
        </p:spPr>
      </p:pic>
      <p:pic>
        <p:nvPicPr>
          <p:cNvPr id="3" name="Image 1" descr="/home/user/miaparkocean/sunum/kaynak/salo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47238" y="0"/>
            <a:ext cx="3047238" cy="2286000"/>
          </a:xfrm>
          <a:prstGeom prst="rect">
            <a:avLst/>
          </a:prstGeom>
        </p:spPr>
      </p:pic>
      <p:pic>
        <p:nvPicPr>
          <p:cNvPr id="4" name="Image 2" descr="/home/user/miaparkocean/sunum/kaynak/tera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94476" y="0"/>
            <a:ext cx="3047238" cy="2286000"/>
          </a:xfrm>
          <a:prstGeom prst="rect">
            <a:avLst/>
          </a:prstGeom>
        </p:spPr>
      </p:pic>
      <p:pic>
        <p:nvPicPr>
          <p:cNvPr id="5" name="Image 3" descr="/home/user/miaparkocean/sunum/kaynak/dubleks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41714" y="0"/>
            <a:ext cx="3047238" cy="2286000"/>
          </a:xfrm>
          <a:prstGeom prst="rect">
            <a:avLst/>
          </a:prstGeom>
        </p:spPr>
      </p:pic>
      <p:pic>
        <p:nvPicPr>
          <p:cNvPr id="6" name="Image 4" descr="/home/user/miaparkocean/sunum/kaynak/perde-yat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88952" cy="22860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66928" y="50292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80" kern="0" dirty="0">
                <a:solidFill>
                  <a:srgbClr val="48A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</a:t>
            </a:r>
            <a:endParaRPr lang="en-US" sz="1150" dirty="0"/>
          </a:p>
        </p:txBody>
      </p:sp>
      <p:sp>
        <p:nvSpPr>
          <p:cNvPr id="8" name="Text 1"/>
          <p:cNvSpPr/>
          <p:nvPr/>
        </p:nvSpPr>
        <p:spPr>
          <a:xfrm>
            <a:off x="566928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Dört tip, 600 daire</a:t>
            </a:r>
            <a:endParaRPr lang="en-US" sz="3200" dirty="0"/>
          </a:p>
        </p:txBody>
      </p:sp>
      <p:sp>
        <p:nvSpPr>
          <p:cNvPr id="9" name="Shape 2"/>
          <p:cNvSpPr/>
          <p:nvPr/>
        </p:nvSpPr>
        <p:spPr>
          <a:xfrm>
            <a:off x="566928" y="2606040"/>
            <a:ext cx="25603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10" name="Text 3"/>
          <p:cNvSpPr/>
          <p:nvPr/>
        </p:nvSpPr>
        <p:spPr>
          <a:xfrm>
            <a:off x="786384" y="27614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1+0</a:t>
            </a:r>
            <a:endParaRPr lang="en-US" sz="1800" dirty="0"/>
          </a:p>
        </p:txBody>
      </p:sp>
      <p:sp>
        <p:nvSpPr>
          <p:cNvPr id="11" name="Text 4"/>
          <p:cNvSpPr/>
          <p:nvPr/>
        </p:nvSpPr>
        <p:spPr>
          <a:xfrm>
            <a:off x="786384" y="321868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472</a:t>
            </a:r>
            <a:endParaRPr lang="en-US" sz="3800" dirty="0"/>
          </a:p>
        </p:txBody>
      </p:sp>
      <p:sp>
        <p:nvSpPr>
          <p:cNvPr id="12" name="Text 5"/>
          <p:cNvSpPr/>
          <p:nvPr/>
        </p:nvSpPr>
        <p:spPr>
          <a:xfrm>
            <a:off x="786384" y="39319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adet</a:t>
            </a:r>
            <a:endParaRPr lang="en-US" sz="1100" dirty="0"/>
          </a:p>
        </p:txBody>
      </p:sp>
      <p:sp>
        <p:nvSpPr>
          <p:cNvPr id="13" name="Text 6"/>
          <p:cNvSpPr/>
          <p:nvPr/>
        </p:nvSpPr>
        <p:spPr>
          <a:xfrm>
            <a:off x="786384" y="42336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Brüt 28 m²</a:t>
            </a:r>
            <a:endParaRPr lang="en-US" sz="1250" dirty="0"/>
          </a:p>
        </p:txBody>
      </p:sp>
      <p:sp>
        <p:nvSpPr>
          <p:cNvPr id="14" name="Text 7"/>
          <p:cNvSpPr/>
          <p:nvPr/>
        </p:nvSpPr>
        <p:spPr>
          <a:xfrm>
            <a:off x="786384" y="45354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ev ve yatırım</a:t>
            </a:r>
            <a:endParaRPr lang="en-US" sz="1100" dirty="0"/>
          </a:p>
        </p:txBody>
      </p:sp>
      <p:sp>
        <p:nvSpPr>
          <p:cNvPr id="15" name="Shape 8"/>
          <p:cNvSpPr/>
          <p:nvPr/>
        </p:nvSpPr>
        <p:spPr>
          <a:xfrm>
            <a:off x="3355848" y="2606040"/>
            <a:ext cx="25603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16" name="Text 9"/>
          <p:cNvSpPr/>
          <p:nvPr/>
        </p:nvSpPr>
        <p:spPr>
          <a:xfrm>
            <a:off x="3575304" y="27614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1+1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3575304" y="321868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en-US" sz="3800" dirty="0"/>
          </a:p>
        </p:txBody>
      </p:sp>
      <p:sp>
        <p:nvSpPr>
          <p:cNvPr id="18" name="Text 11"/>
          <p:cNvSpPr/>
          <p:nvPr/>
        </p:nvSpPr>
        <p:spPr>
          <a:xfrm>
            <a:off x="3575304" y="39319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adet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3575304" y="42336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Brüt 50 m²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3575304" y="45354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 ve küçük aile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6144768" y="2606040"/>
            <a:ext cx="25603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6364224" y="27614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7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1+1 Bahçe Loft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364224" y="321868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800" dirty="0"/>
          </a:p>
        </p:txBody>
      </p:sp>
      <p:sp>
        <p:nvSpPr>
          <p:cNvPr id="24" name="Text 17"/>
          <p:cNvSpPr/>
          <p:nvPr/>
        </p:nvSpPr>
        <p:spPr>
          <a:xfrm>
            <a:off x="6364224" y="39319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adet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6364224" y="42336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Brüt 50 m²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364224" y="45354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Zeminde kendi bahçesi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8933688" y="2606040"/>
            <a:ext cx="25603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9153144" y="27614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7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2+1 Bahçe Dubleks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9153144" y="321868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800" dirty="0"/>
          </a:p>
        </p:txBody>
      </p:sp>
      <p:sp>
        <p:nvSpPr>
          <p:cNvPr id="30" name="Text 23"/>
          <p:cNvSpPr/>
          <p:nvPr/>
        </p:nvSpPr>
        <p:spPr>
          <a:xfrm>
            <a:off x="9153144" y="39319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adet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9153144" y="42336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Brüt 100 m²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153144" y="45354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Bahçeli dubleks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566928" y="5138928"/>
            <a:ext cx="11055096" cy="1170432"/>
          </a:xfrm>
          <a:prstGeom prst="roundRect">
            <a:avLst>
              <a:gd name="adj" fmla="val 7813"/>
            </a:avLst>
          </a:prstGeom>
          <a:solidFill>
            <a:srgbClr val="DDF7FA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34" name="Text 27"/>
          <p:cNvSpPr/>
          <p:nvPr/>
        </p:nvSpPr>
        <p:spPr>
          <a:xfrm>
            <a:off x="877824" y="5138928"/>
            <a:ext cx="10424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Stokun %79'u 1+0 — hacim orada, kampanyayı oraya kurun. Bahçeli tipler toplam 32 adet; aciliyet argümanınız bu.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aparkocean/sunum/kaynak/su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2788920" cy="3429000"/>
          </a:xfrm>
          <a:prstGeom prst="rect">
            <a:avLst/>
          </a:prstGeom>
        </p:spPr>
      </p:pic>
      <p:pic>
        <p:nvPicPr>
          <p:cNvPr id="3" name="Image 1" descr="/home/user/miaparkocean/sunum/kaynak/yuruyu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88920" y="0"/>
            <a:ext cx="2788920" cy="3429000"/>
          </a:xfrm>
          <a:prstGeom prst="rect">
            <a:avLst/>
          </a:prstGeom>
        </p:spPr>
      </p:pic>
      <p:pic>
        <p:nvPicPr>
          <p:cNvPr id="4" name="Image 2" descr="/home/user/miaparkocean/sunum/kaynak/oyu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0" y="3429000"/>
            <a:ext cx="2788920" cy="3429000"/>
          </a:xfrm>
          <a:prstGeom prst="rect">
            <a:avLst/>
          </a:prstGeom>
        </p:spPr>
      </p:pic>
      <p:pic>
        <p:nvPicPr>
          <p:cNvPr id="5" name="Image 3" descr="/home/user/miaparkocean/sunum/kaynak/otopark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788920" y="3429000"/>
            <a:ext cx="2788920" cy="3429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943600" y="61264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80" kern="0" dirty="0">
                <a:solidFill>
                  <a:srgbClr val="1A7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YAŞAM</a:t>
            </a:r>
            <a:endParaRPr lang="en-US" sz="1150" dirty="0"/>
          </a:p>
        </p:txBody>
      </p:sp>
      <p:sp>
        <p:nvSpPr>
          <p:cNvPr id="7" name="Text 1"/>
          <p:cNvSpPr/>
          <p:nvPr/>
        </p:nvSpPr>
        <p:spPr>
          <a:xfrm>
            <a:off x="5943600" y="923544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Merkezi avlu çevresinde hayat</a:t>
            </a:r>
            <a:endParaRPr lang="en-US" sz="2900" dirty="0"/>
          </a:p>
        </p:txBody>
      </p:sp>
      <p:sp>
        <p:nvSpPr>
          <p:cNvPr id="8" name="Shape 2"/>
          <p:cNvSpPr/>
          <p:nvPr/>
        </p:nvSpPr>
        <p:spPr>
          <a:xfrm>
            <a:off x="5943600" y="1865376"/>
            <a:ext cx="237744" cy="237744"/>
          </a:xfrm>
          <a:prstGeom prst="ellipse">
            <a:avLst/>
          </a:prstGeom>
          <a:solidFill>
            <a:srgbClr val="075878"/>
          </a:solidFill>
          <a:ln/>
        </p:spPr>
      </p:sp>
      <p:sp>
        <p:nvSpPr>
          <p:cNvPr id="9" name="Text 3"/>
          <p:cNvSpPr/>
          <p:nvPr/>
        </p:nvSpPr>
        <p:spPr>
          <a:xfrm>
            <a:off x="5943600" y="18653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6327648" y="180136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 avlu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5943600" y="2350008"/>
            <a:ext cx="237744" cy="237744"/>
          </a:xfrm>
          <a:prstGeom prst="ellipse">
            <a:avLst/>
          </a:prstGeom>
          <a:solidFill>
            <a:srgbClr val="1A7496"/>
          </a:solidFill>
          <a:ln/>
        </p:spPr>
      </p:sp>
      <p:sp>
        <p:nvSpPr>
          <p:cNvPr id="12" name="Text 6"/>
          <p:cNvSpPr/>
          <p:nvPr/>
        </p:nvSpPr>
        <p:spPr>
          <a:xfrm>
            <a:off x="5943600" y="2350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6327648" y="22860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Dekoratif süs havuzları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5943600" y="2834640"/>
            <a:ext cx="237744" cy="237744"/>
          </a:xfrm>
          <a:prstGeom prst="ellipse">
            <a:avLst/>
          </a:prstGeom>
          <a:solidFill>
            <a:srgbClr val="075878"/>
          </a:solidFill>
          <a:ln/>
        </p:spPr>
      </p:sp>
      <p:sp>
        <p:nvSpPr>
          <p:cNvPr id="15" name="Text 9"/>
          <p:cNvSpPr/>
          <p:nvPr/>
        </p:nvSpPr>
        <p:spPr>
          <a:xfrm>
            <a:off x="5943600" y="2834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6327648" y="277063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 peyzaj alanları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5943600" y="3319272"/>
            <a:ext cx="237744" cy="237744"/>
          </a:xfrm>
          <a:prstGeom prst="ellipse">
            <a:avLst/>
          </a:prstGeom>
          <a:solidFill>
            <a:srgbClr val="1A7496"/>
          </a:solidFill>
          <a:ln/>
        </p:spPr>
      </p:sp>
      <p:sp>
        <p:nvSpPr>
          <p:cNvPr id="18" name="Text 12"/>
          <p:cNvSpPr/>
          <p:nvPr/>
        </p:nvSpPr>
        <p:spPr>
          <a:xfrm>
            <a:off x="5943600" y="3319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327648" y="325526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Yürüyüş ve dinlenme yolları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943600" y="3803904"/>
            <a:ext cx="237744" cy="237744"/>
          </a:xfrm>
          <a:prstGeom prst="ellipse">
            <a:avLst/>
          </a:prstGeom>
          <a:solidFill>
            <a:srgbClr val="075878"/>
          </a:solidFill>
          <a:ln/>
        </p:spPr>
      </p:sp>
      <p:sp>
        <p:nvSpPr>
          <p:cNvPr id="21" name="Text 15"/>
          <p:cNvSpPr/>
          <p:nvPr/>
        </p:nvSpPr>
        <p:spPr>
          <a:xfrm>
            <a:off x="5943600" y="3803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327648" y="373989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Bahçeli zemin daireler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943600" y="4288536"/>
            <a:ext cx="237744" cy="237744"/>
          </a:xfrm>
          <a:prstGeom prst="ellipse">
            <a:avLst/>
          </a:prstGeom>
          <a:solidFill>
            <a:srgbClr val="1A7496"/>
          </a:solidFill>
          <a:ln/>
        </p:spPr>
      </p:sp>
      <p:sp>
        <p:nvSpPr>
          <p:cNvPr id="24" name="Text 18"/>
          <p:cNvSpPr/>
          <p:nvPr/>
        </p:nvSpPr>
        <p:spPr>
          <a:xfrm>
            <a:off x="5943600" y="4288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327648" y="422452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gece aydınlatması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5943600" y="4773168"/>
            <a:ext cx="237744" cy="237744"/>
          </a:xfrm>
          <a:prstGeom prst="ellipse">
            <a:avLst/>
          </a:prstGeom>
          <a:solidFill>
            <a:srgbClr val="075878"/>
          </a:solidFill>
          <a:ln/>
        </p:spPr>
      </p:sp>
      <p:sp>
        <p:nvSpPr>
          <p:cNvPr id="27" name="Text 21"/>
          <p:cNvSpPr/>
          <p:nvPr/>
        </p:nvSpPr>
        <p:spPr>
          <a:xfrm>
            <a:off x="5943600" y="4773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6327648" y="47091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Kapalı otopark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5943600" y="5257800"/>
            <a:ext cx="237744" cy="237744"/>
          </a:xfrm>
          <a:prstGeom prst="ellipse">
            <a:avLst/>
          </a:prstGeom>
          <a:solidFill>
            <a:srgbClr val="1A7496"/>
          </a:solidFill>
          <a:ln/>
        </p:spPr>
      </p:sp>
      <p:sp>
        <p:nvSpPr>
          <p:cNvPr id="30" name="Text 24"/>
          <p:cNvSpPr/>
          <p:nvPr/>
        </p:nvSpPr>
        <p:spPr>
          <a:xfrm>
            <a:off x="5943600" y="5257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6327648" y="519379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7/24 güvenlik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5943600" y="5742432"/>
            <a:ext cx="5669280" cy="658368"/>
          </a:xfrm>
          <a:prstGeom prst="roundRect">
            <a:avLst>
              <a:gd name="adj" fmla="val 13889"/>
            </a:avLst>
          </a:prstGeom>
          <a:solidFill>
            <a:srgbClr val="DDF7FA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5943600" y="574243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Avludaki su SÜS havuzudur — yüzme havuzu diye anlatmayın.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aparkocean/sunum/kaynak/gec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user/miaparkocean/sunum/kaynak/perde-t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53035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80" kern="0" dirty="0">
                <a:solidFill>
                  <a:srgbClr val="48A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 MODELİ</a:t>
            </a:r>
            <a:endParaRPr lang="en-US" sz="1150" dirty="0"/>
          </a:p>
        </p:txBody>
      </p:sp>
      <p:sp>
        <p:nvSpPr>
          <p:cNvPr id="5" name="Text 1"/>
          <p:cNvSpPr/>
          <p:nvPr/>
        </p:nvSpPr>
        <p:spPr>
          <a:xfrm>
            <a:off x="566928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Banka yok. Faiz yok. Kefil yok.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566928" y="18288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27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%0</a:t>
            </a:r>
            <a:endParaRPr lang="en-US" sz="6600" dirty="0"/>
          </a:p>
        </p:txBody>
      </p:sp>
      <p:sp>
        <p:nvSpPr>
          <p:cNvPr id="7" name="Text 3"/>
          <p:cNvSpPr/>
          <p:nvPr/>
        </p:nvSpPr>
        <p:spPr>
          <a:xfrm>
            <a:off x="566928" y="29260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Faiz / vade farkı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297680" y="18288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27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6600" dirty="0"/>
          </a:p>
        </p:txBody>
      </p:sp>
      <p:sp>
        <p:nvSpPr>
          <p:cNvPr id="9" name="Text 5"/>
          <p:cNvSpPr/>
          <p:nvPr/>
        </p:nvSpPr>
        <p:spPr>
          <a:xfrm>
            <a:off x="4297680" y="29260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sabit taksit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028432" y="18288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27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600" dirty="0"/>
          </a:p>
        </p:txBody>
      </p:sp>
      <p:sp>
        <p:nvSpPr>
          <p:cNvPr id="11" name="Text 7"/>
          <p:cNvSpPr/>
          <p:nvPr/>
        </p:nvSpPr>
        <p:spPr>
          <a:xfrm>
            <a:off x="8028432" y="29260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ödeme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66928" y="3703320"/>
            <a:ext cx="5376672" cy="1170432"/>
          </a:xfrm>
          <a:prstGeom prst="roundRect">
            <a:avLst>
              <a:gd name="adj" fmla="val 7813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48ABC5">
                <a:alpha val="5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41248" y="38496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Tasarrufa dayalı finansman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41248" y="417880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Tasarruf esaslı, faizsiz model. Bankaya ve kefile gerek yok.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90488" y="3703320"/>
            <a:ext cx="5376672" cy="1170432"/>
          </a:xfrm>
          <a:prstGeom prst="roundRect">
            <a:avLst>
              <a:gd name="adj" fmla="val 7813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48ABC5">
                <a:alpha val="5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64808" y="38496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 taksit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464808" y="417880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belirlenen taksit 60 ay aynı kalır. Balon taksit yok.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66928" y="5029200"/>
            <a:ext cx="5376672" cy="1170432"/>
          </a:xfrm>
          <a:prstGeom prst="roundRect">
            <a:avLst>
              <a:gd name="adj" fmla="val 7813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48ABC5">
                <a:alpha val="5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41248" y="51755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Enflasyon avantajı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41248" y="550468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Taksit sabit kaldığı için ödemenin gerçek yükü ay ay hafifler.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190488" y="5029200"/>
            <a:ext cx="5376672" cy="1170432"/>
          </a:xfrm>
          <a:prstGeom prst="roundRect">
            <a:avLst>
              <a:gd name="adj" fmla="val 7813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48ABC5">
                <a:alpha val="5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64808" y="51755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Üye maliyetine konut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464808" y="550468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Kooperatif kâr amacı gütmez; araya müteahhit kârı girmez.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aparkocean/sunum/kaynak/ceph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74152" y="0"/>
            <a:ext cx="4114800" cy="6858000"/>
          </a:xfrm>
          <a:prstGeom prst="rect">
            <a:avLst/>
          </a:prstGeom>
        </p:spPr>
      </p:pic>
      <p:pic>
        <p:nvPicPr>
          <p:cNvPr id="3" name="Image 1" descr="/home/user/miaparkocean/sunum/kaynak/perde-s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0"/>
            <a:ext cx="41148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61264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80" kern="0" dirty="0">
                <a:solidFill>
                  <a:srgbClr val="1A7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YATIRIM</a:t>
            </a:r>
            <a:endParaRPr lang="en-US" sz="1150" dirty="0"/>
          </a:p>
        </p:txBody>
      </p:sp>
      <p:sp>
        <p:nvSpPr>
          <p:cNvPr id="5" name="Text 1"/>
          <p:cNvSpPr/>
          <p:nvPr/>
        </p:nvSpPr>
        <p:spPr>
          <a:xfrm>
            <a:off x="566928" y="923544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MİA Bölgesi'nde m² değeri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75488" y="1737360"/>
          <a:ext cx="7498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566928" y="50292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8" name="Text 3"/>
          <p:cNvSpPr/>
          <p:nvPr/>
        </p:nvSpPr>
        <p:spPr>
          <a:xfrm>
            <a:off x="749808" y="51389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89.000 ₺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49808" y="554126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bugünkü m² fiyatı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3054096" y="50292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3236976" y="51389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%25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3236976" y="554126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yıllık öngörü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541264" y="50292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5724144" y="51389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×3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5724144" y="554126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beş yılda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566928" y="60533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Beş yıllık projeksiyon %25 yıllık artış varsayımına dayalı bir ÖNGÖRÜDÜR; değer taahhüdü değildir.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aparkocean/sunum/kaynak/alacakaranli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0600" y="61264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80" kern="0" dirty="0">
                <a:solidFill>
                  <a:srgbClr val="1A7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GÜVENCE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00600" y="923544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Kooperatif devlet denetiminde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800600" y="1783080"/>
            <a:ext cx="68122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0" y="2039112"/>
            <a:ext cx="457200" cy="457200"/>
          </a:xfrm>
          <a:prstGeom prst="ellipse">
            <a:avLst/>
          </a:prstGeom>
          <a:solidFill>
            <a:srgbClr val="075878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0" y="191109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1163 sayılı Kanun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0" y="2240280"/>
            <a:ext cx="5715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Kuruluştan tasfiyeye kadar her şey 1969'dan beri yürürlükteki kanunla tanımlı.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2898648"/>
            <a:ext cx="68122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0" y="3154680"/>
            <a:ext cx="457200" cy="457200"/>
          </a:xfrm>
          <a:prstGeom prst="ellipse">
            <a:avLst/>
          </a:prstGeom>
          <a:solidFill>
            <a:srgbClr val="075878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669280" y="302666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e-Devlet / KOOPBİS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669280" y="3355848"/>
            <a:ext cx="5715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sözleşme, genel kurul kararları ve ortaklık kaydı e-Devlet'ten görülebilir.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4014216"/>
            <a:ext cx="68122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0" y="4270248"/>
            <a:ext cx="457200" cy="457200"/>
          </a:xfrm>
          <a:prstGeom prst="ellipse">
            <a:avLst/>
          </a:prstGeom>
          <a:solidFill>
            <a:srgbClr val="075878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69280" y="414223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Bakanlık temsilcisi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669280" y="4471416"/>
            <a:ext cx="5715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kurul, Bakanlık tarafından görevlendirilen temsilci gözetiminde yapılır.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00600" y="5129784"/>
            <a:ext cx="68122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029200" y="5385816"/>
            <a:ext cx="457200" cy="457200"/>
          </a:xfrm>
          <a:prstGeom prst="ellipse">
            <a:avLst/>
          </a:prstGeom>
          <a:solidFill>
            <a:srgbClr val="075878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0" y="5385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669280" y="525780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Çok katmanlı denetim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669280" y="5586984"/>
            <a:ext cx="5715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İçeride ortakların denetim organı, dışarıda bağımsız dış denetim ve Bakanlık.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00600" y="6181344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bilgilendirmedir; güncel mevzuat ve kooperatif ana sözleşmesi esastır.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aparkocean/sunum/kaynak/avlu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user/miaparkocean/sunum/kaynak/perde-koy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53035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80" kern="0" dirty="0">
                <a:solidFill>
                  <a:srgbClr val="48A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</a:t>
            </a:r>
            <a:endParaRPr lang="en-US" sz="1150" dirty="0"/>
          </a:p>
        </p:txBody>
      </p:sp>
      <p:sp>
        <p:nvSpPr>
          <p:cNvPr id="5" name="Text 1"/>
          <p:cNvSpPr/>
          <p:nvPr/>
        </p:nvSpPr>
        <p:spPr>
          <a:xfrm>
            <a:off x="566928" y="8412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Dört itiraz, dört cevap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566928" y="2011680"/>
            <a:ext cx="11055096" cy="932688"/>
          </a:xfrm>
          <a:prstGeom prst="roundRect">
            <a:avLst>
              <a:gd name="adj" fmla="val 9804"/>
            </a:avLst>
          </a:prstGeom>
          <a:solidFill>
            <a:srgbClr val="04283A">
              <a:alpha val="60000"/>
            </a:srgbClr>
          </a:solidFill>
          <a:ln w="9525">
            <a:solidFill>
              <a:srgbClr val="48ABC5">
                <a:alpha val="45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59536" y="2011680"/>
            <a:ext cx="3383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48AB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"Kooperatif riskli."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407408" y="2011680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1163 sayılı Kanun kapsamında, KOOPBİS'ten izlenebilir, genel kurulu Bakanlık temsilcisi gözetiminde.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66928" y="3108960"/>
            <a:ext cx="11055096" cy="932688"/>
          </a:xfrm>
          <a:prstGeom prst="roundRect">
            <a:avLst>
              <a:gd name="adj" fmla="val 9804"/>
            </a:avLst>
          </a:prstGeom>
          <a:solidFill>
            <a:srgbClr val="04283A">
              <a:alpha val="60000"/>
            </a:srgbClr>
          </a:solidFill>
          <a:ln w="9525">
            <a:solidFill>
              <a:srgbClr val="48ABC5">
                <a:alpha val="4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59536" y="3108960"/>
            <a:ext cx="3383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48AB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"Kredim çıkmıyor."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407408" y="3108960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Zaten bankaya gitmiyoruz. Ne kredi, ne faiz, ne kefil.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66928" y="4206240"/>
            <a:ext cx="11055096" cy="932688"/>
          </a:xfrm>
          <a:prstGeom prst="roundRect">
            <a:avLst>
              <a:gd name="adj" fmla="val 9804"/>
            </a:avLst>
          </a:prstGeom>
          <a:solidFill>
            <a:srgbClr val="04283A">
              <a:alpha val="60000"/>
            </a:srgbClr>
          </a:solidFill>
          <a:ln w="9525">
            <a:solidFill>
              <a:srgbClr val="48ABC5">
                <a:alpha val="4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59536" y="4206240"/>
            <a:ext cx="3383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48AB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"Taksit sonradan artar mı?"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407408" y="4206240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Hayır. Bugün belirlenen taksit 60 ay sabit; ara ödeme ve balon taksit yok.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66928" y="5303520"/>
            <a:ext cx="11055096" cy="932688"/>
          </a:xfrm>
          <a:prstGeom prst="roundRect">
            <a:avLst>
              <a:gd name="adj" fmla="val 9804"/>
            </a:avLst>
          </a:prstGeom>
          <a:solidFill>
            <a:srgbClr val="04283A">
              <a:alpha val="60000"/>
            </a:srgbClr>
          </a:solidFill>
          <a:ln w="9525">
            <a:solidFill>
              <a:srgbClr val="48ABC5">
                <a:alpha val="4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59536" y="5303520"/>
            <a:ext cx="3383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48AB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"Tapuyu ne zaman alırım?"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407408" y="5303520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İnşaat tamamlandıktan sonra ferdileşme ile daire adınıza tapuya bağlanır.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aparkocean/sunum/kaynak/kolon-study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047238" cy="6858000"/>
          </a:xfrm>
          <a:prstGeom prst="rect">
            <a:avLst/>
          </a:prstGeom>
        </p:spPr>
      </p:pic>
      <p:pic>
        <p:nvPicPr>
          <p:cNvPr id="3" name="Image 1" descr="/home/user/miaparkocean/sunum/kaynak/perde-d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47238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" y="42245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İlk evini alan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274320" y="466344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Peşinatı olan, kredisi çıkmayan genç alıcı</a:t>
            </a:r>
            <a:endParaRPr lang="en-US" sz="1150" dirty="0"/>
          </a:p>
        </p:txBody>
      </p:sp>
      <p:sp>
        <p:nvSpPr>
          <p:cNvPr id="6" name="Shape 2"/>
          <p:cNvSpPr/>
          <p:nvPr/>
        </p:nvSpPr>
        <p:spPr>
          <a:xfrm>
            <a:off x="274320" y="5440680"/>
            <a:ext cx="2468880" cy="402336"/>
          </a:xfrm>
          <a:prstGeom prst="roundRect">
            <a:avLst>
              <a:gd name="adj" fmla="val 50000"/>
            </a:avLst>
          </a:prstGeom>
          <a:solidFill>
            <a:srgbClr val="F2704B"/>
          </a:solidFill>
          <a:ln/>
        </p:spPr>
      </p:sp>
      <p:sp>
        <p:nvSpPr>
          <p:cNvPr id="7" name="Text 3"/>
          <p:cNvSpPr/>
          <p:nvPr/>
        </p:nvSpPr>
        <p:spPr>
          <a:xfrm>
            <a:off x="274320" y="54406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1+0</a:t>
            </a:r>
            <a:endParaRPr lang="en-US" sz="1050" dirty="0"/>
          </a:p>
        </p:txBody>
      </p:sp>
      <p:pic>
        <p:nvPicPr>
          <p:cNvPr id="8" name="Image 2" descr="/home/user/miaparkocean/sunum/kaynak/kolon-salo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238" y="0"/>
            <a:ext cx="3047238" cy="6858000"/>
          </a:xfrm>
          <a:prstGeom prst="rect">
            <a:avLst/>
          </a:prstGeom>
        </p:spPr>
      </p:pic>
      <p:pic>
        <p:nvPicPr>
          <p:cNvPr id="9" name="Image 3" descr="/home/user/miaparkocean/sunum/kaynak/perde-d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238" y="0"/>
            <a:ext cx="3047238" cy="68580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321558" y="42245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Yatırımcı</a:t>
            </a:r>
            <a:endParaRPr lang="en-US" sz="1800" dirty="0"/>
          </a:p>
        </p:txBody>
      </p:sp>
      <p:sp>
        <p:nvSpPr>
          <p:cNvPr id="11" name="Text 5"/>
          <p:cNvSpPr/>
          <p:nvPr/>
        </p:nvSpPr>
        <p:spPr>
          <a:xfrm>
            <a:off x="3321558" y="466344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Kiralamak ve değerlenme bekleyen</a:t>
            </a:r>
            <a:endParaRPr lang="en-US" sz="1150" dirty="0"/>
          </a:p>
        </p:txBody>
      </p:sp>
      <p:sp>
        <p:nvSpPr>
          <p:cNvPr id="12" name="Shape 6"/>
          <p:cNvSpPr/>
          <p:nvPr/>
        </p:nvSpPr>
        <p:spPr>
          <a:xfrm>
            <a:off x="3321558" y="5440680"/>
            <a:ext cx="2468880" cy="402336"/>
          </a:xfrm>
          <a:prstGeom prst="roundRect">
            <a:avLst>
              <a:gd name="adj" fmla="val 50000"/>
            </a:avLst>
          </a:prstGeom>
          <a:solidFill>
            <a:srgbClr val="F2704B"/>
          </a:solidFill>
          <a:ln/>
        </p:spPr>
      </p:sp>
      <p:sp>
        <p:nvSpPr>
          <p:cNvPr id="13" name="Text 7"/>
          <p:cNvSpPr/>
          <p:nvPr/>
        </p:nvSpPr>
        <p:spPr>
          <a:xfrm>
            <a:off x="3321558" y="54406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1+0 · 1+1</a:t>
            </a:r>
            <a:endParaRPr lang="en-US" sz="1050" dirty="0"/>
          </a:p>
        </p:txBody>
      </p:sp>
      <p:pic>
        <p:nvPicPr>
          <p:cNvPr id="14" name="Image 4" descr="/home/user/miaparkocean/sunum/kaynak/kolon-teras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476" y="0"/>
            <a:ext cx="3047238" cy="6858000"/>
          </a:xfrm>
          <a:prstGeom prst="rect">
            <a:avLst/>
          </a:prstGeom>
        </p:spPr>
      </p:pic>
      <p:pic>
        <p:nvPicPr>
          <p:cNvPr id="15" name="Image 5" descr="/home/user/miaparkocean/sunum/kaynak/perde-di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4476" y="0"/>
            <a:ext cx="3047238" cy="68580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368796" y="42245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Küçük aile</a:t>
            </a:r>
            <a:endParaRPr lang="en-US" sz="1800" dirty="0"/>
          </a:p>
        </p:txBody>
      </p:sp>
      <p:sp>
        <p:nvSpPr>
          <p:cNvPr id="17" name="Text 9"/>
          <p:cNvSpPr/>
          <p:nvPr/>
        </p:nvSpPr>
        <p:spPr>
          <a:xfrm>
            <a:off x="6368796" y="466344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 ya da tek çocuklu aile</a:t>
            </a:r>
            <a:endParaRPr lang="en-US" sz="1150" dirty="0"/>
          </a:p>
        </p:txBody>
      </p:sp>
      <p:sp>
        <p:nvSpPr>
          <p:cNvPr id="18" name="Shape 10"/>
          <p:cNvSpPr/>
          <p:nvPr/>
        </p:nvSpPr>
        <p:spPr>
          <a:xfrm>
            <a:off x="6368796" y="5440680"/>
            <a:ext cx="2468880" cy="402336"/>
          </a:xfrm>
          <a:prstGeom prst="roundRect">
            <a:avLst>
              <a:gd name="adj" fmla="val 50000"/>
            </a:avLst>
          </a:prstGeom>
          <a:solidFill>
            <a:srgbClr val="F2704B"/>
          </a:solidFill>
          <a:ln/>
        </p:spPr>
      </p:sp>
      <p:sp>
        <p:nvSpPr>
          <p:cNvPr id="19" name="Text 11"/>
          <p:cNvSpPr/>
          <p:nvPr/>
        </p:nvSpPr>
        <p:spPr>
          <a:xfrm>
            <a:off x="6368796" y="54406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1+1</a:t>
            </a:r>
            <a:endParaRPr lang="en-US" sz="1050" dirty="0"/>
          </a:p>
        </p:txBody>
      </p:sp>
      <p:pic>
        <p:nvPicPr>
          <p:cNvPr id="20" name="Image 6" descr="/home/user/miaparkocean/sunum/kaynak/kolon-dubleks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1714" y="0"/>
            <a:ext cx="3047238" cy="6858000"/>
          </a:xfrm>
          <a:prstGeom prst="rect">
            <a:avLst/>
          </a:prstGeom>
        </p:spPr>
      </p:pic>
      <p:pic>
        <p:nvPicPr>
          <p:cNvPr id="21" name="Image 7" descr="/home/user/miaparkocean/sunum/kaynak/perde-di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1714" y="0"/>
            <a:ext cx="3047238" cy="68580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9416034" y="42245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Bahçe isteyen</a:t>
            </a:r>
            <a:endParaRPr lang="en-US" sz="1800" dirty="0"/>
          </a:p>
        </p:txBody>
      </p:sp>
      <p:sp>
        <p:nvSpPr>
          <p:cNvPr id="23" name="Text 13"/>
          <p:cNvSpPr/>
          <p:nvPr/>
        </p:nvSpPr>
        <p:spPr>
          <a:xfrm>
            <a:off x="9416034" y="466344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Apartmanda müstakil ev hissi</a:t>
            </a:r>
            <a:endParaRPr lang="en-US" sz="1150" dirty="0"/>
          </a:p>
        </p:txBody>
      </p:sp>
      <p:sp>
        <p:nvSpPr>
          <p:cNvPr id="24" name="Shape 14"/>
          <p:cNvSpPr/>
          <p:nvPr/>
        </p:nvSpPr>
        <p:spPr>
          <a:xfrm>
            <a:off x="9416034" y="5440680"/>
            <a:ext cx="2468880" cy="402336"/>
          </a:xfrm>
          <a:prstGeom prst="roundRect">
            <a:avLst>
              <a:gd name="adj" fmla="val 50000"/>
            </a:avLst>
          </a:prstGeom>
          <a:solidFill>
            <a:srgbClr val="F2704B"/>
          </a:solidFill>
          <a:ln/>
        </p:spPr>
      </p:sp>
      <p:sp>
        <p:nvSpPr>
          <p:cNvPr id="25" name="Text 15"/>
          <p:cNvSpPr/>
          <p:nvPr/>
        </p:nvSpPr>
        <p:spPr>
          <a:xfrm>
            <a:off x="9416034" y="54406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Bahçe Loft · Dubleks</a:t>
            </a:r>
            <a:endParaRPr lang="en-US" sz="1050" dirty="0"/>
          </a:p>
        </p:txBody>
      </p:sp>
      <p:sp>
        <p:nvSpPr>
          <p:cNvPr id="26" name="Shape 16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4283A">
              <a:alpha val="78000"/>
            </a:srgbClr>
          </a:solidFill>
          <a:ln/>
        </p:spPr>
      </p:sp>
      <p:sp>
        <p:nvSpPr>
          <p:cNvPr id="27" name="Text 17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KİTLE  ·  KİMİ GETİRECEKSİNİZ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80" kern="0" dirty="0">
                <a:solidFill>
                  <a:srgbClr val="1A7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SATIŞ DESTEĞİ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923544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Elinize ne veriyoruz</a:t>
            </a:r>
            <a:endParaRPr lang="en-US" sz="3000" dirty="0"/>
          </a:p>
        </p:txBody>
      </p:sp>
      <p:pic>
        <p:nvPicPr>
          <p:cNvPr id="4" name="Image 0" descr="/home/user/miaparkocean/sunum/kaynak/m-bilbo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83080"/>
            <a:ext cx="3392424" cy="2258568"/>
          </a:xfrm>
          <a:prstGeom prst="rect">
            <a:avLst/>
          </a:prstGeom>
        </p:spPr>
      </p:pic>
      <p:pic>
        <p:nvPicPr>
          <p:cNvPr id="5" name="Image 1" descr="/home/user/miaparkocean/sunum/kaynak/m-ars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187952"/>
            <a:ext cx="3392424" cy="2258568"/>
          </a:xfrm>
          <a:prstGeom prst="rect">
            <a:avLst/>
          </a:prstGeom>
        </p:spPr>
      </p:pic>
      <p:pic>
        <p:nvPicPr>
          <p:cNvPr id="6" name="Image 2" descr="/home/user/miaparkocean/sunum/kaynak/m-rollu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52" y="1783080"/>
            <a:ext cx="1865376" cy="4663440"/>
          </a:xfrm>
          <a:prstGeom prst="rect">
            <a:avLst/>
          </a:prstGeom>
        </p:spPr>
      </p:pic>
      <p:pic>
        <p:nvPicPr>
          <p:cNvPr id="7" name="Image 3" descr="/home/user/miaparkocean/sunum/kaynak/m-yaka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783080"/>
            <a:ext cx="1563624" cy="2258568"/>
          </a:xfrm>
          <a:prstGeom prst="rect">
            <a:avLst/>
          </a:prstGeom>
        </p:spPr>
      </p:pic>
      <p:pic>
        <p:nvPicPr>
          <p:cNvPr id="8" name="Image 4" descr="/home/user/miaparkocean/sunum/kaynak/m-katalog-01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4187952"/>
            <a:ext cx="1600200" cy="2258568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8275320" y="1892808"/>
            <a:ext cx="237744" cy="237744"/>
          </a:xfrm>
          <a:prstGeom prst="ellipse">
            <a:avLst/>
          </a:prstGeom>
          <a:solidFill>
            <a:srgbClr val="075878"/>
          </a:solidFill>
          <a:ln/>
        </p:spPr>
      </p:sp>
      <p:sp>
        <p:nvSpPr>
          <p:cNvPr id="10" name="Text 3"/>
          <p:cNvSpPr/>
          <p:nvPr/>
        </p:nvSpPr>
        <p:spPr>
          <a:xfrm>
            <a:off x="8275320" y="1892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500" dirty="0"/>
          </a:p>
        </p:txBody>
      </p:sp>
      <p:sp>
        <p:nvSpPr>
          <p:cNvPr id="11" name="Text 4"/>
          <p:cNvSpPr/>
          <p:nvPr/>
        </p:nvSpPr>
        <p:spPr>
          <a:xfrm>
            <a:off x="8641080" y="18288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bilbord tasarımı</a:t>
            </a:r>
            <a:endParaRPr lang="en-US" sz="1300" dirty="0"/>
          </a:p>
        </p:txBody>
      </p:sp>
      <p:sp>
        <p:nvSpPr>
          <p:cNvPr id="12" name="Shape 5"/>
          <p:cNvSpPr/>
          <p:nvPr/>
        </p:nvSpPr>
        <p:spPr>
          <a:xfrm>
            <a:off x="8275320" y="2441448"/>
            <a:ext cx="237744" cy="237744"/>
          </a:xfrm>
          <a:prstGeom prst="ellipse">
            <a:avLst/>
          </a:prstGeom>
          <a:solidFill>
            <a:srgbClr val="1A7496"/>
          </a:solidFill>
          <a:ln/>
        </p:spPr>
      </p:sp>
      <p:sp>
        <p:nvSpPr>
          <p:cNvPr id="13" name="Text 6"/>
          <p:cNvSpPr/>
          <p:nvPr/>
        </p:nvSpPr>
        <p:spPr>
          <a:xfrm>
            <a:off x="8275320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8641080" y="2377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arsa panosu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8275320" y="2990088"/>
            <a:ext cx="237744" cy="237744"/>
          </a:xfrm>
          <a:prstGeom prst="ellipse">
            <a:avLst/>
          </a:prstGeom>
          <a:solidFill>
            <a:srgbClr val="075878"/>
          </a:solidFill>
          <a:ln/>
        </p:spPr>
      </p:sp>
      <p:sp>
        <p:nvSpPr>
          <p:cNvPr id="16" name="Text 9"/>
          <p:cNvSpPr/>
          <p:nvPr/>
        </p:nvSpPr>
        <p:spPr>
          <a:xfrm>
            <a:off x="8275320" y="2990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8641080" y="29260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Roll-up ve totem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275320" y="3538728"/>
            <a:ext cx="237744" cy="237744"/>
          </a:xfrm>
          <a:prstGeom prst="ellipse">
            <a:avLst/>
          </a:prstGeom>
          <a:solidFill>
            <a:srgbClr val="1A7496"/>
          </a:solidFill>
          <a:ln/>
        </p:spPr>
      </p:sp>
      <p:sp>
        <p:nvSpPr>
          <p:cNvPr id="19" name="Text 12"/>
          <p:cNvSpPr/>
          <p:nvPr/>
        </p:nvSpPr>
        <p:spPr>
          <a:xfrm>
            <a:off x="8275320" y="35387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8641080" y="34747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Yaka kartları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8275320" y="4087368"/>
            <a:ext cx="237744" cy="237744"/>
          </a:xfrm>
          <a:prstGeom prst="ellipse">
            <a:avLst/>
          </a:prstGeom>
          <a:solidFill>
            <a:srgbClr val="075878"/>
          </a:solidFill>
          <a:ln/>
        </p:spPr>
      </p:sp>
      <p:sp>
        <p:nvSpPr>
          <p:cNvPr id="22" name="Text 15"/>
          <p:cNvSpPr/>
          <p:nvPr/>
        </p:nvSpPr>
        <p:spPr>
          <a:xfrm>
            <a:off x="8275320" y="4087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8641080" y="40233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katalog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275320" y="4636008"/>
            <a:ext cx="237744" cy="237744"/>
          </a:xfrm>
          <a:prstGeom prst="ellipse">
            <a:avLst/>
          </a:prstGeom>
          <a:solidFill>
            <a:srgbClr val="1A7496"/>
          </a:solidFill>
          <a:ln/>
        </p:spPr>
      </p:sp>
      <p:sp>
        <p:nvSpPr>
          <p:cNvPr id="25" name="Text 18"/>
          <p:cNvSpPr/>
          <p:nvPr/>
        </p:nvSpPr>
        <p:spPr>
          <a:xfrm>
            <a:off x="8275320" y="4636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8641080" y="45720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miaparkocean.com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8275320" y="5184648"/>
            <a:ext cx="237744" cy="237744"/>
          </a:xfrm>
          <a:prstGeom prst="ellipse">
            <a:avLst/>
          </a:prstGeom>
          <a:solidFill>
            <a:srgbClr val="075878"/>
          </a:solidFill>
          <a:ln/>
        </p:spPr>
      </p:sp>
      <p:sp>
        <p:nvSpPr>
          <p:cNvPr id="28" name="Text 21"/>
          <p:cNvSpPr/>
          <p:nvPr/>
        </p:nvSpPr>
        <p:spPr>
          <a:xfrm>
            <a:off x="8275320" y="5184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8641080" y="51206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medya seti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275320" y="5733288"/>
            <a:ext cx="237744" cy="237744"/>
          </a:xfrm>
          <a:prstGeom prst="ellipse">
            <a:avLst/>
          </a:prstGeom>
          <a:solidFill>
            <a:srgbClr val="1A7496"/>
          </a:solidFill>
          <a:ln/>
        </p:spPr>
      </p:sp>
      <p:sp>
        <p:nvSpPr>
          <p:cNvPr id="31" name="Text 24"/>
          <p:cNvSpPr/>
          <p:nvPr/>
        </p:nvSpPr>
        <p:spPr>
          <a:xfrm>
            <a:off x="8275320" y="57332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8641080" y="56692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Tanıtım filmi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8275320" y="6309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Hepsi baskıya hazır dosya olarak paylaşılır.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aparkocean/sunum/kaynak/lof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11312" y="0"/>
            <a:ext cx="3977640" cy="6858000"/>
          </a:xfrm>
          <a:prstGeom prst="rect">
            <a:avLst/>
          </a:prstGeom>
        </p:spPr>
      </p:pic>
      <p:pic>
        <p:nvPicPr>
          <p:cNvPr id="3" name="Image 1" descr="/home/user/miaparkocean/sunum/kaynak/perde-s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0"/>
            <a:ext cx="397764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61264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80" kern="0" dirty="0">
                <a:solidFill>
                  <a:srgbClr val="1A7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BİRLİĞİ</a:t>
            </a:r>
            <a:endParaRPr lang="en-US" sz="1150" dirty="0"/>
          </a:p>
        </p:txBody>
      </p:sp>
      <p:sp>
        <p:nvSpPr>
          <p:cNvPr id="5" name="Text 1"/>
          <p:cNvSpPr/>
          <p:nvPr/>
        </p:nvSpPr>
        <p:spPr>
          <a:xfrm>
            <a:off x="566928" y="923544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Nasıl çalışıyoruz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66928" y="1755648"/>
            <a:ext cx="726948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731520" y="1856232"/>
            <a:ext cx="402336" cy="402336"/>
          </a:xfrm>
          <a:prstGeom prst="ellipse">
            <a:avLst/>
          </a:prstGeom>
          <a:solidFill>
            <a:srgbClr val="075878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280160" y="175564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Kayıt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694176" y="1755648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Emlakçı kaydı ve yetki belgesi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66928" y="2468880"/>
            <a:ext cx="726948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31520" y="2569464"/>
            <a:ext cx="402336" cy="402336"/>
          </a:xfrm>
          <a:prstGeom prst="ellipse">
            <a:avLst/>
          </a:prstGeom>
          <a:solidFill>
            <a:srgbClr val="075878"/>
          </a:solidFill>
          <a:ln/>
        </p:spPr>
      </p:sp>
      <p:sp>
        <p:nvSpPr>
          <p:cNvPr id="13" name="Text 9"/>
          <p:cNvSpPr/>
          <p:nvPr/>
        </p:nvSpPr>
        <p:spPr>
          <a:xfrm>
            <a:off x="731520" y="2569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280160" y="246888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Müşteri bildirimi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94176" y="2468880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ofise gelmeden bildirilir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66928" y="3182112"/>
            <a:ext cx="726948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282696"/>
            <a:ext cx="402336" cy="402336"/>
          </a:xfrm>
          <a:prstGeom prst="ellipse">
            <a:avLst/>
          </a:prstGeom>
          <a:solidFill>
            <a:srgbClr val="075878"/>
          </a:solidFill>
          <a:ln/>
        </p:spPr>
      </p:sp>
      <p:sp>
        <p:nvSpPr>
          <p:cNvPr id="18" name="Text 14"/>
          <p:cNvSpPr/>
          <p:nvPr/>
        </p:nvSpPr>
        <p:spPr>
          <a:xfrm>
            <a:off x="731520" y="3282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280160" y="318211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Görüşme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694176" y="3182112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ofisinde birlikte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66928" y="3895344"/>
            <a:ext cx="726948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31520" y="3995928"/>
            <a:ext cx="402336" cy="402336"/>
          </a:xfrm>
          <a:prstGeom prst="ellipse">
            <a:avLst/>
          </a:prstGeom>
          <a:solidFill>
            <a:srgbClr val="1A7496"/>
          </a:solidFill>
          <a:ln/>
        </p:spPr>
      </p:sp>
      <p:sp>
        <p:nvSpPr>
          <p:cNvPr id="23" name="Text 19"/>
          <p:cNvSpPr/>
          <p:nvPr/>
        </p:nvSpPr>
        <p:spPr>
          <a:xfrm>
            <a:off x="731520" y="3995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280160" y="389534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Sözleşme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3694176" y="3895344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Ortaklık işlemleri ve peşinat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566928" y="4608576"/>
            <a:ext cx="726948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731520" y="4709160"/>
            <a:ext cx="402336" cy="402336"/>
          </a:xfrm>
          <a:prstGeom prst="ellipse">
            <a:avLst/>
          </a:prstGeom>
          <a:solidFill>
            <a:srgbClr val="1A7496"/>
          </a:solidFill>
          <a:ln/>
        </p:spPr>
      </p:sp>
      <p:sp>
        <p:nvSpPr>
          <p:cNvPr id="28" name="Text 24"/>
          <p:cNvSpPr/>
          <p:nvPr/>
        </p:nvSpPr>
        <p:spPr>
          <a:xfrm>
            <a:off x="731520" y="4709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1280160" y="460857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Hakediş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3694176" y="4608576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Komisyon ödemesi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566928" y="5376672"/>
            <a:ext cx="726948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9050">
            <a:solidFill>
              <a:srgbClr val="F2704B"/>
            </a:solidFill>
            <a:prstDash val="solid"/>
          </a:ln>
          <a:effectLst>
            <a:outerShdw sx="100000" sy="100000" kx="0" ky="0" algn="bl" rotWithShape="0" blurRad="203200" dist="50800" dir="5400000">
              <a:srgbClr val="04283A">
                <a:alpha val="16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841248" y="5486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F27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SUNUMDAN ÖNCE DOLDURULACAK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841248" y="581558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4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Komisyon oranı  ______     Hakediş zamanı  ______     Müşteri koruma süresi  ______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aparkocean/sunum/kaynak/tera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user/miaparkocean/sunum/kaynak/perde-t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53035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80" kern="0" dirty="0">
                <a:solidFill>
                  <a:srgbClr val="48A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MÜŞTERİ SÜRECİ</a:t>
            </a:r>
            <a:endParaRPr lang="en-US" sz="1150" dirty="0"/>
          </a:p>
        </p:txBody>
      </p:sp>
      <p:sp>
        <p:nvSpPr>
          <p:cNvPr id="5" name="Text 1"/>
          <p:cNvSpPr/>
          <p:nvPr/>
        </p:nvSpPr>
        <p:spPr>
          <a:xfrm>
            <a:off x="566928" y="8412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Peşinattan tapuya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566928" y="22860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48ABC5">
                <a:alpha val="50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04672" y="2523744"/>
            <a:ext cx="512064" cy="512064"/>
          </a:xfrm>
          <a:prstGeom prst="ellipse">
            <a:avLst/>
          </a:prstGeom>
          <a:solidFill>
            <a:srgbClr val="F2704B"/>
          </a:solidFill>
          <a:ln/>
        </p:spPr>
      </p:sp>
      <p:sp>
        <p:nvSpPr>
          <p:cNvPr id="8" name="Text 4"/>
          <p:cNvSpPr/>
          <p:nvPr/>
        </p:nvSpPr>
        <p:spPr>
          <a:xfrm>
            <a:off x="804672" y="2523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04672" y="32186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Peşinat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04672" y="3639312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Avantajlı peşinatla başlar, kalan tutar 60 aya kadar taksitlenir.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355848" y="22860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48ABC5">
                <a:alpha val="5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593592" y="2523744"/>
            <a:ext cx="512064" cy="512064"/>
          </a:xfrm>
          <a:prstGeom prst="ellipse">
            <a:avLst/>
          </a:prstGeom>
          <a:solidFill>
            <a:srgbClr val="F2704B"/>
          </a:solidFill>
          <a:ln/>
        </p:spPr>
      </p:sp>
      <p:sp>
        <p:nvSpPr>
          <p:cNvPr id="13" name="Text 9"/>
          <p:cNvSpPr/>
          <p:nvPr/>
        </p:nvSpPr>
        <p:spPr>
          <a:xfrm>
            <a:off x="3593592" y="2523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93592" y="32186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ay taksit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593592" y="3639312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Faiz yok, kefil yok, banka yok. Sabit taksit, ara ödeme yok.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44768" y="22860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48ABC5">
                <a:alpha val="5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82512" y="2523744"/>
            <a:ext cx="512064" cy="512064"/>
          </a:xfrm>
          <a:prstGeom prst="ellipse">
            <a:avLst/>
          </a:prstGeom>
          <a:solidFill>
            <a:srgbClr val="1A7496"/>
          </a:solidFill>
          <a:ln/>
        </p:spPr>
      </p:sp>
      <p:sp>
        <p:nvSpPr>
          <p:cNvPr id="18" name="Text 14"/>
          <p:cNvSpPr/>
          <p:nvPr/>
        </p:nvSpPr>
        <p:spPr>
          <a:xfrm>
            <a:off x="6382512" y="2523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382512" y="32186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İnşaat ve takip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6382512" y="3639312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Ödemeler ve inşaat aşamaları KOOPBİS ve ilerleme panelinden izlenir.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933688" y="22860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48ABC5">
                <a:alpha val="50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171432" y="2523744"/>
            <a:ext cx="512064" cy="512064"/>
          </a:xfrm>
          <a:prstGeom prst="ellipse">
            <a:avLst/>
          </a:prstGeom>
          <a:solidFill>
            <a:srgbClr val="1A7496"/>
          </a:solidFill>
          <a:ln/>
        </p:spPr>
      </p:sp>
      <p:sp>
        <p:nvSpPr>
          <p:cNvPr id="23" name="Text 19"/>
          <p:cNvSpPr/>
          <p:nvPr/>
        </p:nvSpPr>
        <p:spPr>
          <a:xfrm>
            <a:off x="9171432" y="2523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9171432" y="32186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Tapu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9171432" y="3639312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İnşaat bitince ferdileşme ile daire adına tapuya bağlanır.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566928" y="5779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8A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Tapu sorusu mutlaka gelir: ferdileşme, inşaat bitiminde.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aparkocean/sunum/kaynak/deniz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user/miaparkocean/sunum/kaynak/perde-t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4" name="Image 2" descr="/home/user/miaparkocean/sunum/kaynak/logo-beyaz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85800"/>
            <a:ext cx="2286000" cy="157276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66928" y="2743200"/>
            <a:ext cx="7589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Yarın sabah ilk müşterinizi getirin.</a:t>
            </a:r>
            <a:endParaRPr lang="en-US" sz="4000" dirty="0"/>
          </a:p>
        </p:txBody>
      </p:sp>
      <p:sp>
        <p:nvSpPr>
          <p:cNvPr id="6" name="Text 1"/>
          <p:cNvSpPr/>
          <p:nvPr/>
        </p:nvSpPr>
        <p:spPr>
          <a:xfrm>
            <a:off x="566928" y="420624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ofisimiz her gün açık. Kahvemizi içmeye bekleriz.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566928" y="4892040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0540 028 00 41   ·   0541 128 40 41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miaparkocean.com   ·   @miaparkocean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GAYRİMENKUL  ·  Tek Yetkili Satıcı</a:t>
            </a:r>
            <a:endParaRPr lang="en-US" sz="1400" dirty="0"/>
          </a:p>
        </p:txBody>
      </p:sp>
      <p:sp>
        <p:nvSpPr>
          <p:cNvPr id="8" name="Shape 3"/>
          <p:cNvSpPr/>
          <p:nvPr/>
        </p:nvSpPr>
        <p:spPr>
          <a:xfrm>
            <a:off x="9098280" y="3017520"/>
            <a:ext cx="2542032" cy="2542032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</p:spPr>
      </p:sp>
      <p:pic>
        <p:nvPicPr>
          <p:cNvPr id="9" name="Image 3" descr="/home/user/miaparkocean/sunum/kaynak/q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3236976"/>
            <a:ext cx="2103120" cy="21031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098280" y="566928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8A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Projeyi telefonunuzda açın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MİA PARK OCEAN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MİA PARK OCEAN — Lansman Sunumu</dc:title>
  <dc:subject>PptxGenJS Presentation</dc:subject>
  <dc:creator>Ocean Gayrimenkul</dc:creator>
  <cp:lastModifiedBy>Ocean Gayrimenkul</cp:lastModifiedBy>
  <cp:revision>1</cp:revision>
  <dcterms:created xsi:type="dcterms:W3CDTF">2026-08-20T14:19:08Z</dcterms:created>
  <dcterms:modified xsi:type="dcterms:W3CDTF">2026-08-20T14:19:08Z</dcterms:modified>
</cp:coreProperties>
</file>