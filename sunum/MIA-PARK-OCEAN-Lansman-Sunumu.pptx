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webp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image" Target="../media/image-22-7.jpg"/><Relationship Id="rId8" Type="http://schemas.openxmlformats.org/officeDocument/2006/relationships/image" Target="../media/image-22-8.jpg"/><Relationship Id="rId9" Type="http://schemas.openxmlformats.org/officeDocument/2006/relationships/image" Target="../media/image-22-9.jpg"/><Relationship Id="rId10" Type="http://schemas.openxmlformats.org/officeDocument/2006/relationships/image" Target="../media/image-22-10.jp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261554" y="924762"/>
            <a:ext cx="2941932" cy="2941932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7527196" y="879508"/>
            <a:ext cx="2776408" cy="2776408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4" name="Image 0" descr="/home/user/miaparkocean/sunum/kaynak/sekil/e-kapak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530352"/>
            <a:ext cx="347472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2700000">
            <a:off x="5880722" y="3686162"/>
            <a:ext cx="1863116" cy="1863116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6" name="Image 1" descr="/home/user/miaparkocean/sunum/kaynak/sekil/e-kapak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3451860"/>
            <a:ext cx="2331720" cy="23317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 rot="2700000">
            <a:off x="10463857" y="4181929"/>
            <a:ext cx="743565" cy="743565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8" name="Shape 4"/>
          <p:cNvSpPr/>
          <p:nvPr/>
        </p:nvSpPr>
        <p:spPr>
          <a:xfrm rot="2700000">
            <a:off x="5904615" y="2850519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10926604" y="685324"/>
            <a:ext cx="549592" cy="549592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rot="2700000">
            <a:off x="11378733" y="6166653"/>
            <a:ext cx="193974" cy="19397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1" name="Shape 7"/>
          <p:cNvSpPr/>
          <p:nvPr/>
        </p:nvSpPr>
        <p:spPr>
          <a:xfrm rot="2700000">
            <a:off x="11691658" y="6369850"/>
            <a:ext cx="336221" cy="336221"/>
          </a:xfrm>
          <a:prstGeom prst="rect">
            <a:avLst/>
          </a:prstGeom>
          <a:ln w="11430">
            <a:solidFill>
              <a:srgbClr val="04283A"/>
            </a:solidFill>
            <a:prstDash val="solid"/>
          </a:ln>
        </p:spPr>
      </p:sp>
      <p:pic>
        <p:nvPicPr>
          <p:cNvPr id="12" name="Image 2" descr="/home/user/miaparkocean/public/brand/logo-ocean-tri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58368"/>
            <a:ext cx="1783080" cy="12252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22960" y="233172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822960" y="269748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600" b="1" spc="1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</a:t>
            </a:r>
            <a:endParaRPr lang="en-US" sz="5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5600" b="1" spc="1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</a:t>
            </a:r>
            <a:endParaRPr lang="en-US" sz="5600" dirty="0"/>
          </a:p>
        </p:txBody>
      </p:sp>
      <p:sp>
        <p:nvSpPr>
          <p:cNvPr id="15" name="Shape 10"/>
          <p:cNvSpPr/>
          <p:nvPr/>
        </p:nvSpPr>
        <p:spPr>
          <a:xfrm>
            <a:off x="822960" y="46634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2960" y="4828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spc="3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İZMİT MİA BÖLGESİ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822960" y="517550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Emlakçılar için yeni bir satış fırsatı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822960" y="5742432"/>
            <a:ext cx="3931920" cy="475488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19" name="Text 14"/>
          <p:cNvSpPr/>
          <p:nvPr/>
        </p:nvSpPr>
        <p:spPr>
          <a:xfrm>
            <a:off x="1042416" y="574243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14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 AĞUSTOS 2026  ·  EMEX OTEL, KOCAELİ</a:t>
            </a:r>
            <a:endParaRPr lang="en-US" sz="950" dirty="0"/>
          </a:p>
        </p:txBody>
      </p:sp>
      <p:pic>
        <p:nvPicPr>
          <p:cNvPr id="20" name="Image 3" descr="/home/user/miaparkocean/sunum/kaynak/sekil/ocean-logo-renkl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5760720"/>
            <a:ext cx="1051560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gund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1256070" y="1941870"/>
            <a:ext cx="2974261" cy="2974261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2700000">
            <a:off x="615595" y="5873395"/>
            <a:ext cx="323289" cy="323289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5" name="Shape 2"/>
          <p:cNvSpPr/>
          <p:nvPr/>
        </p:nvSpPr>
        <p:spPr>
          <a:xfrm>
            <a:off x="4892040" y="658368"/>
            <a:ext cx="1188720" cy="475488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3"/>
          <p:cNvSpPr/>
          <p:nvPr/>
        </p:nvSpPr>
        <p:spPr>
          <a:xfrm>
            <a:off x="4892040" y="65836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spc="15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26364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GÜNDEM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263640" y="1115568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BUGÜN NELER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KONUŞACAĞIZ?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 rot="2700000">
            <a:off x="6381212" y="28241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7"/>
          <p:cNvSpPr/>
          <p:nvPr/>
        </p:nvSpPr>
        <p:spPr>
          <a:xfrm>
            <a:off x="6190488" y="27523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903720" y="27980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 Özeti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 rot="2700000">
            <a:off x="6381212" y="32813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3209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03720" y="32552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Konum ve MİA Bölgesi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 rot="2700000">
            <a:off x="6381212" y="37385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6" name="Text 13"/>
          <p:cNvSpPr/>
          <p:nvPr/>
        </p:nvSpPr>
        <p:spPr>
          <a:xfrm>
            <a:off x="6190488" y="36667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903720" y="37124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Mimari ve Yaşam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 rot="2700000">
            <a:off x="6381212" y="41957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9" name="Text 16"/>
          <p:cNvSpPr/>
          <p:nvPr/>
        </p:nvSpPr>
        <p:spPr>
          <a:xfrm>
            <a:off x="6190488" y="41239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03720" y="41696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 Dağılımı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 rot="2700000">
            <a:off x="6381212" y="46529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2" name="Text 19"/>
          <p:cNvSpPr/>
          <p:nvPr/>
        </p:nvSpPr>
        <p:spPr>
          <a:xfrm>
            <a:off x="6190488" y="45811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903720" y="46268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Ödeme Modeli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 rot="2700000">
            <a:off x="6381212" y="51101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Text 22"/>
          <p:cNvSpPr/>
          <p:nvPr/>
        </p:nvSpPr>
        <p:spPr>
          <a:xfrm>
            <a:off x="6190488" y="50383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03720" y="50840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 Profilleri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 rot="2700000">
            <a:off x="6381212" y="55673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8" name="Text 25"/>
          <p:cNvSpPr/>
          <p:nvPr/>
        </p:nvSpPr>
        <p:spPr>
          <a:xfrm>
            <a:off x="6190488" y="54955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903720" y="55412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Satış Süreci ve İş Birliği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 rot="2700000">
            <a:off x="6381212" y="6024596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31" name="Text 28"/>
          <p:cNvSpPr/>
          <p:nvPr/>
        </p:nvSpPr>
        <p:spPr>
          <a:xfrm>
            <a:off x="6190488" y="59527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903720" y="5998464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Güven ve İletişim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 ÖZETİ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NEDİR?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99339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95728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31638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34015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İzmit MİA Bölgesi'nde tek etapta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3749040"/>
            <a:ext cx="274320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77640" y="2395728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584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977640" y="31638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 VE 1+1 STOK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977640" y="34015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Satışın omurgası kompakt segment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77640" y="3749040"/>
            <a:ext cx="274320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968496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22960" y="4736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VADE FARKSIZ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960" y="49743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Banka yok, faiz yok, kefil yok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5321808"/>
            <a:ext cx="274320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77640" y="3968496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3977640" y="47365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977640" y="49743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Kalan tutar 60 aya kadar taksit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977640" y="5321808"/>
            <a:ext cx="274320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742432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OCEAN, İzmit'in gelişen merkezi iş alanında konumlanan; yatırım ve yaşam talebini aynı noktada buluşturan modern konut projesidir.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 rot="2700000">
            <a:off x="8002773" y="1784853"/>
            <a:ext cx="2922535" cy="2922535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23" name="Image 0" descr="/home/user/miaparkocean/sunum/kaynak/sekil/e-oz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17320"/>
            <a:ext cx="3657600" cy="36576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 rot="2700000">
            <a:off x="11307610" y="5089690"/>
            <a:ext cx="336221" cy="33622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Shape 22"/>
          <p:cNvSpPr/>
          <p:nvPr/>
        </p:nvSpPr>
        <p:spPr>
          <a:xfrm rot="2700000">
            <a:off x="7356752" y="1001672"/>
            <a:ext cx="465536" cy="465536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PORTFÖY DEĞERLENDİRMESİ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SATILMASI KOLAY BİR ÜRÜN</a:t>
            </a:r>
            <a:endParaRPr lang="en-US" sz="28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NEDEN OLUŞUR?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852928"/>
            <a:ext cx="512064" cy="51206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6" name="Image 0" descr="/home/user/miaparkocean/sunum/kaynak/sekil/i-pin-vurg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4890" y="2934858"/>
            <a:ext cx="348204" cy="3482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2834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lokasyon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572768" y="31272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Müşteriye konumu anlatmak kolay; dakika bazlı mesafeler tek cümlede aktarılır.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22960" y="3712464"/>
            <a:ext cx="512064" cy="51206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10" name="Image 1" descr="/home/user/miaparkocean/sunum/kaynak/sekil/i-ev-vurg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90" y="3794394"/>
            <a:ext cx="348204" cy="34820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72768" y="36941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daire seçenekleri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1572768" y="398678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Daha geniş yatırımcı kitlesine hitap eder; giriş bütçesi düşer, talep genişler.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22960" y="4572000"/>
            <a:ext cx="512064" cy="51206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14" name="Image 2" descr="/home/user/miaparkocean/sunum/kaynak/sekil/i-takvim-vurg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0" y="4653930"/>
            <a:ext cx="348204" cy="3482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72768" y="45537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Uzun vadeli ödeme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1572768" y="48463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Alıcının giriş bariyerini azaltır; kredisi çıkmayan müşteri portföyde kalır.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22960" y="5431536"/>
            <a:ext cx="512064" cy="51206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18" name="Image 3" descr="/home/user/miaparkocean/sunum/kaynak/sekil/i-grafik-vurg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890" y="5513466"/>
            <a:ext cx="348204" cy="34820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72768" y="54132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Güçlü proje görselliği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572768" y="570585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Sunum ve dijital satışta yüksek algı oluşturur; materyal hazır gelir.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 rot="2700000">
            <a:off x="8222184" y="1592784"/>
            <a:ext cx="2849471" cy="2849471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22" name="Image 4" descr="/home/user/miaparkocean/sunum/kaynak/sekil/e-ned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1234440"/>
            <a:ext cx="3566160" cy="356616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 rot="2700000">
            <a:off x="7675873" y="4813801"/>
            <a:ext cx="284495" cy="284495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24" name="Shape 17"/>
          <p:cNvSpPr/>
          <p:nvPr/>
        </p:nvSpPr>
        <p:spPr>
          <a:xfrm rot="2700000">
            <a:off x="11151512" y="910232"/>
            <a:ext cx="465536" cy="465536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7498080" y="56692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İyi proje yalnızca güzel değildir; doğru müşteriye kolay anlatılabilir.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850" dirty="0"/>
          </a:p>
        </p:txBody>
      </p:sp>
      <p:sp>
        <p:nvSpPr>
          <p:cNvPr id="27" name="Text 20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kon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1057501" y="2200501"/>
            <a:ext cx="2456998" cy="2456998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2700000">
            <a:off x="4082281" y="589273"/>
            <a:ext cx="284495" cy="284495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5" name="Text 2"/>
          <p:cNvSpPr/>
          <p:nvPr/>
        </p:nvSpPr>
        <p:spPr>
          <a:xfrm>
            <a:off x="525780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257800" y="1115568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 YERE</a:t>
            </a:r>
            <a:endParaRPr lang="en-US" sz="28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DAKİKALAR İÇİNDE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25780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5343234" y="2920074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9" name="Text 6"/>
          <p:cNvSpPr/>
          <p:nvPr/>
        </p:nvSpPr>
        <p:spPr>
          <a:xfrm>
            <a:off x="5650992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 Karayolu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692640" y="28346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DK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394960" y="3218688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5343234" y="3322410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3" name="Text 10"/>
          <p:cNvSpPr/>
          <p:nvPr/>
        </p:nvSpPr>
        <p:spPr>
          <a:xfrm>
            <a:off x="5650992" y="32369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İzmit Sahili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692640" y="32369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DK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394960" y="3621024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5343234" y="372474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7" name="Text 14"/>
          <p:cNvSpPr/>
          <p:nvPr/>
        </p:nvSpPr>
        <p:spPr>
          <a:xfrm>
            <a:off x="5650992" y="36393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 Burada AVM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692640" y="36393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DK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394960" y="4023360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5343234" y="4127082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1" name="Text 18"/>
          <p:cNvSpPr/>
          <p:nvPr/>
        </p:nvSpPr>
        <p:spPr>
          <a:xfrm>
            <a:off x="5650992" y="40416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Şehir Merkezi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9692640" y="404164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DK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394960" y="4425696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5343234" y="4529418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Text 22"/>
          <p:cNvSpPr/>
          <p:nvPr/>
        </p:nvSpPr>
        <p:spPr>
          <a:xfrm>
            <a:off x="5650992" y="44439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Şehir Hastanesi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692640" y="444398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DK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94960" y="4828032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2700000">
            <a:off x="5343234" y="4931754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9" name="Text 26"/>
          <p:cNvSpPr/>
          <p:nvPr/>
        </p:nvSpPr>
        <p:spPr>
          <a:xfrm>
            <a:off x="5650992" y="4846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 Otoyolu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692640" y="484632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DK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394960" y="5230368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2700000">
            <a:off x="5343234" y="5334090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33" name="Text 30"/>
          <p:cNvSpPr/>
          <p:nvPr/>
        </p:nvSpPr>
        <p:spPr>
          <a:xfrm>
            <a:off x="5650992" y="524865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Symbol AVM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692640" y="5248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DK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394960" y="5632704"/>
            <a:ext cx="5943600" cy="0"/>
          </a:xfrm>
          <a:prstGeom prst="line">
            <a:avLst/>
          </a:prstGeom>
          <a:noFill/>
          <a:ln w="6350">
            <a:solidFill>
              <a:srgbClr val="D9E7E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2700000">
            <a:off x="5343234" y="573642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37" name="Text 34"/>
          <p:cNvSpPr/>
          <p:nvPr/>
        </p:nvSpPr>
        <p:spPr>
          <a:xfrm>
            <a:off x="5650992" y="56509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Kocaeli Üniversitesi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9692640" y="56509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1300" b="1" spc="1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DK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5257800" y="61447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Günlük yaşam, ulaşım, sağlık, eğitim ve alışveriş birkaç dakikalık erişim alanında.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46320" cy="685800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BÖLGE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NEDEN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ÖNEMLİ?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670048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4436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MİA, Merkezi İş Alanı demektir: bir şehrin ofis, ticaret ve hizmet fonksiyonlarının yoğunlaşması için planlanan bölge.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 rot="2700000">
            <a:off x="2606926" y="4710046"/>
            <a:ext cx="1461267" cy="146126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8" name="Image 0" descr="/home/user/miaparkocean/sunum/kaynak/sekil/e-m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4526280"/>
            <a:ext cx="1828800" cy="1828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 rot="2700000">
            <a:off x="1105124" y="4762724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7"/>
          <p:cNvSpPr/>
          <p:nvPr/>
        </p:nvSpPr>
        <p:spPr>
          <a:xfrm>
            <a:off x="5440680" y="118872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6492240" y="1243584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Yeni ticari merkez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92240" y="160934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Ofis, ticaret ve hizmet fonksiyonlarının yoğunlaşacağı bölge.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 rot="2700000">
            <a:off x="10589328" y="1097856"/>
            <a:ext cx="949824" cy="94982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14" name="Image 1" descr="/home/user/miaparkocean/sunum/kaynak/sekil/e-mia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978408"/>
            <a:ext cx="1188720" cy="11887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440680" y="2377440"/>
            <a:ext cx="498348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440680" y="270662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492240" y="2761488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Yeni yaşam aksı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492240" y="3127248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Yeni konut ve karma kullanımlı projelerin geliştiği bölge.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 rot="2700000">
            <a:off x="10589328" y="2615760"/>
            <a:ext cx="949824" cy="94982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20" name="Image 2" descr="/home/user/miaparkocean/sunum/kaynak/sekil/e-mia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2496312"/>
            <a:ext cx="1188720" cy="118872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440680" y="3895344"/>
            <a:ext cx="4983480" cy="0"/>
          </a:xfrm>
          <a:prstGeom prst="line">
            <a:avLst/>
          </a:prstGeom>
          <a:noFill/>
          <a:ln w="9525">
            <a:solidFill>
              <a:srgbClr val="D9E7E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440680" y="422452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18"/>
          <p:cNvSpPr/>
          <p:nvPr/>
        </p:nvSpPr>
        <p:spPr>
          <a:xfrm>
            <a:off x="6492240" y="4279392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Değerlenme potansiyeli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92240" y="4645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Altyapı ve ticari hareketlilik arttıkça bölgenin yatırım çekiciliği artar.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 rot="2700000">
            <a:off x="10589328" y="4133664"/>
            <a:ext cx="949824" cy="94982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26" name="Image 3" descr="/home/user/miaparkocean/sunum/kaynak/sekil/e-mia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4014216"/>
            <a:ext cx="1188720" cy="11887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440680" y="612648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Bölgesel gelişim bir potansiyeldir; değer artışı taahhüdü değildir.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PAZAR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İSTANBUL'A YAKIN, İZMİT'İN MERKEZİNDE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67712"/>
            <a:ext cx="5074920" cy="169164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5786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İZMİT YATIRIMCISI İÇİN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188720" y="288950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Şehrin gelişen yeni merkezinde konum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91072" y="2267712"/>
            <a:ext cx="5074920" cy="1691640"/>
          </a:xfrm>
          <a:prstGeom prst="rect">
            <a:avLst/>
          </a:prstGeom>
          <a:solidFill>
            <a:srgbClr val="D9E7EE"/>
          </a:solidFill>
          <a:ln/>
        </p:spPr>
      </p:sp>
      <p:sp>
        <p:nvSpPr>
          <p:cNvPr id="9" name="Text 7"/>
          <p:cNvSpPr/>
          <p:nvPr/>
        </p:nvSpPr>
        <p:spPr>
          <a:xfrm>
            <a:off x="6656832" y="257860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20" kern="0" dirty="0">
                <a:solidFill>
                  <a:srgbClr val="1361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YATIRIMCISI İÇİN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656832" y="2889504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Anadolu Yakası'na kıyasla erişilebilir bütçeyle konut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97280" y="5074920"/>
            <a:ext cx="10287000" cy="0"/>
          </a:xfrm>
          <a:prstGeom prst="line">
            <a:avLst/>
          </a:prstGeom>
          <a:noFill/>
          <a:ln w="15875">
            <a:solidFill>
              <a:srgbClr val="1A7496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rot="2700000">
            <a:off x="1228893" y="4977933"/>
            <a:ext cx="193974" cy="193974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13" name="Shape 11"/>
          <p:cNvSpPr/>
          <p:nvPr/>
        </p:nvSpPr>
        <p:spPr>
          <a:xfrm rot="2700000">
            <a:off x="6246081" y="4874481"/>
            <a:ext cx="400879" cy="400879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2700000">
            <a:off x="6330136" y="4958536"/>
            <a:ext cx="232768" cy="232768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5" name="Shape 13"/>
          <p:cNvSpPr/>
          <p:nvPr/>
        </p:nvSpPr>
        <p:spPr>
          <a:xfrm rot="2700000">
            <a:off x="10967253" y="4977933"/>
            <a:ext cx="193974" cy="193974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3675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b="1" spc="1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ANADOLU YAKASI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257800" y="44714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spc="1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· İZMİT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195560" y="5367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50" b="1" spc="10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SAKARYA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47091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yaklaşık 1,5 saat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63840" y="47091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yaklaşık 35 dakika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" y="60350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 yalnız İzmit'e değil; İstanbul ve Sakarya'dan gelen Marmara yatırımcısına da hitap eder.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tam-mimar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iaparkocean/sunum/kaynak/perde-mim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3931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MİMARİ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822960" y="4261104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MODERN VE</a:t>
            </a:r>
            <a:endParaRPr lang="en-US" sz="3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000" b="1" spc="6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ZAMANSIZ MİMARİ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822960" y="5815584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 rot="2700000">
            <a:off x="6471179" y="4404635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8" name="Text 4"/>
          <p:cNvSpPr/>
          <p:nvPr/>
        </p:nvSpPr>
        <p:spPr>
          <a:xfrm>
            <a:off x="6720840" y="431596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Modern cephe dili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 rot="2700000">
            <a:off x="9214379" y="4404635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6"/>
          <p:cNvSpPr/>
          <p:nvPr/>
        </p:nvSpPr>
        <p:spPr>
          <a:xfrm>
            <a:off x="9464040" y="431596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Geniş peyzaj alanları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 rot="2700000">
            <a:off x="6471179" y="4880123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2" name="Text 8"/>
          <p:cNvSpPr/>
          <p:nvPr/>
        </p:nvSpPr>
        <p:spPr>
          <a:xfrm>
            <a:off x="6720840" y="479145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Süs havuzu ve su aksları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 rot="2700000">
            <a:off x="9214379" y="4880123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0"/>
          <p:cNvSpPr/>
          <p:nvPr/>
        </p:nvSpPr>
        <p:spPr>
          <a:xfrm>
            <a:off x="9464040" y="479145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Düzenli site içi ulaşım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 rot="2700000">
            <a:off x="6471179" y="5355611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6" name="Text 12"/>
          <p:cNvSpPr/>
          <p:nvPr/>
        </p:nvSpPr>
        <p:spPr>
          <a:xfrm>
            <a:off x="6720840" y="526694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Balkonlu daireler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 rot="2700000">
            <a:off x="9214379" y="5355611"/>
            <a:ext cx="96987" cy="9698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4"/>
          <p:cNvSpPr/>
          <p:nvPr/>
        </p:nvSpPr>
        <p:spPr>
          <a:xfrm>
            <a:off x="9464040" y="526694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Güvenlikli site yaklaşımı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446520" y="588873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Projedeki su öğeleri peyzaj amaçlı süs havuzu ve su akslarıdır.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SİTE KONSEPTİ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MERKEZİ AVLU ÇEVRESİNDE YAŞAM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44386" y="2435442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23408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avlu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 rot="2700000">
            <a:off x="4154514" y="2435442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8" name="Text 6"/>
          <p:cNvSpPr/>
          <p:nvPr/>
        </p:nvSpPr>
        <p:spPr>
          <a:xfrm>
            <a:off x="4425696" y="23408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Süs havuzları ve su aksları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2700000">
            <a:off x="844386" y="294750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2852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Geniş peyzaj alanları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2700000">
            <a:off x="4154514" y="294750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2" name="Text 10"/>
          <p:cNvSpPr/>
          <p:nvPr/>
        </p:nvSpPr>
        <p:spPr>
          <a:xfrm>
            <a:off x="4425696" y="2852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Yürüyüş ve dinlenme yolları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2700000">
            <a:off x="844386" y="3459570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2"/>
          <p:cNvSpPr/>
          <p:nvPr/>
        </p:nvSpPr>
        <p:spPr>
          <a:xfrm>
            <a:off x="1115568" y="33649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Çocuk oyun alanı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2700000">
            <a:off x="4154514" y="3459570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6" name="Text 14"/>
          <p:cNvSpPr/>
          <p:nvPr/>
        </p:nvSpPr>
        <p:spPr>
          <a:xfrm>
            <a:off x="4425696" y="33649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Kapalı otopark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2700000">
            <a:off x="844386" y="3971634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38770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7/24 güvenlik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rot="2700000">
            <a:off x="4154514" y="3971634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0" name="Text 18"/>
          <p:cNvSpPr/>
          <p:nvPr/>
        </p:nvSpPr>
        <p:spPr>
          <a:xfrm>
            <a:off x="4425696" y="38770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Gün ışığı odaklı cepheler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4590288"/>
            <a:ext cx="6537960" cy="640080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22" name="Image 0" descr="/home/user/miaparkocean/sunum/kaynak/sekil/i-kalkan-bey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4736592"/>
            <a:ext cx="347472" cy="34747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508760" y="459028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Avludaki su SÜS havuzudur — yüzme havuzu diye anlatmayın.</a:t>
            </a:r>
            <a:endParaRPr lang="en-US" sz="1200" dirty="0"/>
          </a:p>
        </p:txBody>
      </p:sp>
      <p:pic>
        <p:nvPicPr>
          <p:cNvPr id="24" name="Image 1" descr="/home/user/miaparkocean/sunum/kaynak/foto/ya-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2212848"/>
            <a:ext cx="3246120" cy="2057400"/>
          </a:xfrm>
          <a:prstGeom prst="rect">
            <a:avLst/>
          </a:prstGeom>
        </p:spPr>
      </p:pic>
      <p:pic>
        <p:nvPicPr>
          <p:cNvPr id="25" name="Image 2" descr="/home/user/miaparkocean/sunum/kaynak/foto/ya-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4407408"/>
            <a:ext cx="3246120" cy="205740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 rot="2700000">
            <a:off x="7424452" y="1938052"/>
            <a:ext cx="549592" cy="549592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 rot="2700000">
            <a:off x="11215251" y="1156851"/>
            <a:ext cx="155179" cy="155179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8" name="Shape 23"/>
          <p:cNvSpPr/>
          <p:nvPr/>
        </p:nvSpPr>
        <p:spPr>
          <a:xfrm rot="2700000">
            <a:off x="11465590" y="1319408"/>
            <a:ext cx="268977" cy="268977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SATIŞIN OMURGASI: 1+0 VE 1+1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pic>
        <p:nvPicPr>
          <p:cNvPr id="5" name="Image 0" descr="/home/user/miaparkocean/sunum/kaynak/foto/urun-1plus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04288"/>
            <a:ext cx="4846320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4498848"/>
            <a:ext cx="4846320" cy="1389888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7" name="Shape 4"/>
          <p:cNvSpPr/>
          <p:nvPr/>
        </p:nvSpPr>
        <p:spPr>
          <a:xfrm rot="2700000">
            <a:off x="1157120" y="4723280"/>
            <a:ext cx="465536" cy="46553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8" name="Text 5"/>
          <p:cNvSpPr/>
          <p:nvPr/>
        </p:nvSpPr>
        <p:spPr>
          <a:xfrm>
            <a:off x="932688" y="47548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063240" y="4626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00" spc="24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063240" y="4754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1097280" y="543153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Yatırım, kiralama ve kompakt yaşam talebine yönelik güçlü stok.</a:t>
            </a:r>
            <a:endParaRPr lang="en-US" sz="1000" dirty="0"/>
          </a:p>
        </p:txBody>
      </p:sp>
      <p:pic>
        <p:nvPicPr>
          <p:cNvPr id="12" name="Image 1" descr="/home/user/miaparkocean/sunum/kaynak/foto/urun-1plu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304288"/>
            <a:ext cx="4846320" cy="2194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26480" y="4498848"/>
            <a:ext cx="4846320" cy="1389888"/>
          </a:xfrm>
          <a:prstGeom prst="rect">
            <a:avLst/>
          </a:prstGeom>
          <a:solidFill>
            <a:srgbClr val="0A3A55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6460640" y="4723280"/>
            <a:ext cx="465536" cy="46553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5" name="Text 11"/>
          <p:cNvSpPr/>
          <p:nvPr/>
        </p:nvSpPr>
        <p:spPr>
          <a:xfrm>
            <a:off x="6236208" y="47548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366760" y="462686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00" spc="24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8366760" y="47548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</a:t>
            </a:r>
            <a:endParaRPr lang="en-US" sz="3600" dirty="0"/>
          </a:p>
        </p:txBody>
      </p:sp>
      <p:sp>
        <p:nvSpPr>
          <p:cNvPr id="18" name="Text 14"/>
          <p:cNvSpPr/>
          <p:nvPr/>
        </p:nvSpPr>
        <p:spPr>
          <a:xfrm>
            <a:off x="6400800" y="543153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 kişi, çiftler ve yatırımcı müşteriler için dengeli ürün.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22960" y="610819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Projenin ana satış gücü kompakt daire segmentidir.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1plus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206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1267163" y="2135843"/>
            <a:ext cx="2586314" cy="2586314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160520" y="658368"/>
            <a:ext cx="1417320" cy="50292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5" name="Text 2"/>
          <p:cNvSpPr/>
          <p:nvPr/>
        </p:nvSpPr>
        <p:spPr>
          <a:xfrm>
            <a:off x="4160520" y="6583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80644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 DETAYI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806440" y="111556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 — YATIRIMIN</a:t>
            </a:r>
            <a:endParaRPr lang="en-US" sz="28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YÜZÜ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80644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5853539" y="2881739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0" y="281635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19088" y="28529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Brüt 28 m²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321040" y="2852928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Verimli plan; her metrekare kullanımda.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806440" y="3474720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5853539" y="3668123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0" y="36027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19088" y="36393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 adet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321040" y="3639312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Projenin en derin stoğu — sürekli satış imkânı.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806440" y="4261104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5853539" y="4454507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0" y="43891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19088" y="44256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Yatırım odaklı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8321040" y="4425696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Kiralama talebi güçlü, likiditesi yüksek segment.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806440" y="5047488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5853539" y="5240891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0" y="517550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19088" y="52120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Hedef müşteri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8321040" y="5212080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Genç profesyonel, öğrenci velisi, kira geliri arayan yatırımcı.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806440" y="60533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daire, geniş kiracı havuzu demektir: kiralama süresi kısalır, boş kalma riski düşer.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1plus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8338218" y="2135843"/>
            <a:ext cx="2586314" cy="2586314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613855" y="658368"/>
            <a:ext cx="1417320" cy="50292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5" name="Text 2"/>
          <p:cNvSpPr/>
          <p:nvPr/>
        </p:nvSpPr>
        <p:spPr>
          <a:xfrm>
            <a:off x="6613855" y="6583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ÜRÜN DETAYI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111556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 — DENGELİ</a:t>
            </a:r>
            <a:endParaRPr lang="en-US" sz="28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YAŞAM ÜRÜNÜ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0059" y="2881739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281635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435608" y="28529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Brüt 50 m²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337560" y="2852928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Yaşam alanı ile yatak odası ayrışır; konfor artar.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2960" y="3474720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0059" y="3668123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36027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435608" y="36393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 adet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3337560" y="3639312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Talebi dengeleyen, kıtlığı hissedilen stok.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22960" y="4261104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0059" y="4454507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43891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435608" y="44256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Çift ve küçük aile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3337560" y="4425696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Oturum amaçlı alıcının ilk tercihi.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22960" y="5047488"/>
            <a:ext cx="553212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0059" y="5240891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Text 22"/>
          <p:cNvSpPr/>
          <p:nvPr/>
        </p:nvSpPr>
        <p:spPr>
          <a:xfrm>
            <a:off x="685800" y="517550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435608" y="521208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Kiracı profili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337560" y="5212080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Çalışan çiftler ve profesyoneller; istikrarlı kira.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22960" y="60533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1+0'dan taşınan kiracının doğal adresi: site içinde yükselme merdiveni kurar.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HEDEF KİTLE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 PROJEYİ KİME</a:t>
            </a:r>
            <a:endParaRPr lang="en-US" sz="28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SATABİLİRSİNİZ?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70059" y="2845163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77977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44752" y="2834640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İlk kez konut alanlar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43400" y="2807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Düşük başlangıç bariyeri arayanlar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22960" y="3346704"/>
            <a:ext cx="640080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2700000">
            <a:off x="870059" y="3521819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45643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3511296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Yatırımcılar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343400" y="34838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Kiralama potansiyeli olan kompakt konut arayanlar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4023360"/>
            <a:ext cx="640080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2700000">
            <a:off x="870059" y="4198475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13308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44752" y="418795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yatırımcıları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34340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İstanbul dışında alternatif arayanlar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2960" y="4700016"/>
            <a:ext cx="640080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2700000">
            <a:off x="870059" y="4875131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80974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44752" y="4864608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Çalışan profesyoneller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343400" y="48371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ve ulaşımı kolay daire isteyenler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2960" y="5376672"/>
            <a:ext cx="640080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870059" y="5551787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48640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44752" y="5541264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Üniversiteli aileleri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343400" y="55138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Kocaeli Üniversitesi'ne yakınlık arayanlar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 rot="2700000">
            <a:off x="8340968" y="1940168"/>
            <a:ext cx="2703344" cy="270334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30" name="Image 0" descr="/home/user/miaparkocean/sunum/kaynak/sekil/e-prof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600200"/>
            <a:ext cx="3383280" cy="3383280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 rot="2700000">
            <a:off x="7858753" y="4932673"/>
            <a:ext cx="284495" cy="284495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32" name="Shape 29"/>
          <p:cNvSpPr/>
          <p:nvPr/>
        </p:nvSpPr>
        <p:spPr>
          <a:xfrm rot="2700000">
            <a:off x="11197232" y="955952"/>
            <a:ext cx="465536" cy="465536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18120" y="55778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Reddedilen kredi başvurusu burada satışa dönüyor.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r-ode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2700000">
            <a:off x="8989392" y="2329817"/>
            <a:ext cx="2198367" cy="2198367"/>
          </a:xfrm>
          <a:prstGeom prst="rect">
            <a:avLst/>
          </a:prstGeom>
          <a:ln w="15240">
            <a:solidFill>
              <a:srgbClr val="1A749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FİNANSMAN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" y="1115568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ALICININ ÖNÜNDEKİ ENGELİ</a:t>
            </a:r>
            <a:endParaRPr lang="en-US" sz="27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7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AZALTAN ÖDEME MODELİ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822960" y="256032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29260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</a:t>
            </a:r>
            <a:endParaRPr lang="en-US" sz="5600" dirty="0"/>
          </a:p>
        </p:txBody>
      </p:sp>
      <p:sp>
        <p:nvSpPr>
          <p:cNvPr id="8" name="Text 5"/>
          <p:cNvSpPr/>
          <p:nvPr/>
        </p:nvSpPr>
        <p:spPr>
          <a:xfrm>
            <a:off x="822960" y="396849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spc="26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297680" y="29260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4297680" y="396849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b="1" spc="26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VADE FARKSIZ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" y="4553712"/>
            <a:ext cx="6812280" cy="676656"/>
          </a:xfrm>
          <a:prstGeom prst="rect">
            <a:avLst/>
          </a:prstGeom>
          <a:solidFill>
            <a:srgbClr val="0A3A55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4553712"/>
            <a:ext cx="6812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spc="16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BANKA YOK   ·   FAİZ YOK   ·   KEFİL YOK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22960" y="5504688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Tasarrufa dayalı finansman yaklaşımı sayesinde konut alımında banka kredisine alternatif bir ödeme modeli sunulur.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ÖRNEK ÖDEME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BUGÜNKÜ ÖDEME ÖRNEKLERİ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86000"/>
            <a:ext cx="4846320" cy="301752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6" name="Shape 4"/>
          <p:cNvSpPr/>
          <p:nvPr/>
        </p:nvSpPr>
        <p:spPr>
          <a:xfrm rot="2700000">
            <a:off x="1271095" y="2624407"/>
            <a:ext cx="530194" cy="53019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883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1+0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40280" y="2889504"/>
            <a:ext cx="3063240" cy="0"/>
          </a:xfrm>
          <a:prstGeom prst="line">
            <a:avLst/>
          </a:prstGeom>
          <a:noFill/>
          <a:ln w="9525">
            <a:solidFill>
              <a:srgbClr val="2A5B7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7008" y="34564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spc="24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207008" y="3694176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699.000 TL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207008" y="43159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spc="24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AYLIK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07008" y="4553712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29.900 TL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26480" y="2286000"/>
            <a:ext cx="4846320" cy="3017520"/>
          </a:xfrm>
          <a:prstGeom prst="rect">
            <a:avLst/>
          </a:prstGeom>
          <a:solidFill>
            <a:srgbClr val="0A3A55"/>
          </a:solidFill>
          <a:ln/>
        </p:spPr>
      </p:sp>
      <p:sp>
        <p:nvSpPr>
          <p:cNvPr id="14" name="Shape 12"/>
          <p:cNvSpPr/>
          <p:nvPr/>
        </p:nvSpPr>
        <p:spPr>
          <a:xfrm rot="2700000">
            <a:off x="6574615" y="2624407"/>
            <a:ext cx="530194" cy="53019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2512" y="268833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1+1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543800" y="2889504"/>
            <a:ext cx="3063240" cy="0"/>
          </a:xfrm>
          <a:prstGeom prst="line">
            <a:avLst/>
          </a:prstGeom>
          <a:noFill/>
          <a:ln w="9525">
            <a:solidFill>
              <a:srgbClr val="2A5B7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0528" y="34564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spc="24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10528" y="3694176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999.000 TL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510528" y="431596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spc="240" kern="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AYLIK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10528" y="4553712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39.900 TL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22960" y="5541264"/>
            <a:ext cx="10543032" cy="548640"/>
          </a:xfrm>
          <a:prstGeom prst="rect">
            <a:avLst/>
          </a:prstGeom>
          <a:solidFill>
            <a:srgbClr val="D9E7EE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5541264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b="1" spc="220" kern="0" dirty="0">
                <a:solidFill>
                  <a:srgbClr val="1361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  ·  VADE FARKSIZ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6272784"/>
            <a:ext cx="10543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Fiyatlar ve kampanya koşulları dönemsel olarak değişebilir. Güncel bilgi için satış ofisiyle iletişime geçiniz.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MÜŞTERİ SÜRECİ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PEŞİNATTAN TAPUYA DÖRT ADIM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3493008"/>
            <a:ext cx="9281160" cy="0"/>
          </a:xfrm>
          <a:prstGeom prst="line">
            <a:avLst/>
          </a:prstGeom>
          <a:noFill/>
          <a:ln w="15875">
            <a:solidFill>
              <a:srgbClr val="1A7496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rot="2700000">
            <a:off x="1322155" y="2894923"/>
            <a:ext cx="1196170" cy="1196170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1441772" y="3014540"/>
            <a:ext cx="956936" cy="956936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8" name="Image 0" descr="/home/user/miaparkocean/sunum/kaynak/sekil/i-banknot-bey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661" y="3205429"/>
            <a:ext cx="575158" cy="57515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01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8580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Peşinat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8580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Avantajlı peşinatla başlar; kalan tutar 60 aya kadar taksitlenir.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 rot="2700000">
            <a:off x="4111075" y="2894923"/>
            <a:ext cx="1196170" cy="1196170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4230692" y="3014540"/>
            <a:ext cx="956936" cy="956936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14" name="Image 1" descr="/home/user/miaparkocean/sunum/kaynak/sekil/i-takvim-beya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581" y="3205429"/>
            <a:ext cx="575158" cy="57515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7472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02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347472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Sabit taksit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47472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Faiz yok, kefil yok, banka yok; ara ödeme ve balon taksit yok.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 rot="2700000">
            <a:off x="6899995" y="2894923"/>
            <a:ext cx="1196170" cy="1196170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2700000">
            <a:off x="7019612" y="3014540"/>
            <a:ext cx="956936" cy="956936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20" name="Image 2" descr="/home/user/miaparkocean/sunum/kaynak/sekil/i-bina-beyaz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501" y="3205429"/>
            <a:ext cx="575158" cy="57515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26364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03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626364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İnşaat ve takip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26364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Ödemeler ve inşaat aşamaları KOOPBİS üzerinden izlenir.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 rot="2700000">
            <a:off x="9688915" y="2894923"/>
            <a:ext cx="1196170" cy="1196170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 rot="2700000">
            <a:off x="9808532" y="3014540"/>
            <a:ext cx="956936" cy="956936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26" name="Image 3" descr="/home/user/miaparkocean/sunum/kaynak/sekil/i-anahtar-beya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9421" y="3205429"/>
            <a:ext cx="575158" cy="57515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52560" y="459028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b="1" spc="2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ADIM 04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052560" y="482803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Tapu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9052560" y="515721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İnşaat bitince ferdileşme ile daire adınıza tapuya bağlanır.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822960" y="61447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Tapu sorusu mutlaka gelir: ferdileşme, inşaat bitiminde.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SAHA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MÜŞTERİYE 60 SANİYEDE NASIL ANLATILIR?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75415" y="2338455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228600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08760" y="2304288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i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“Proje, İzmit'in gelişen MİA Bölgesi'nde.”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2907792"/>
            <a:ext cx="10543032" cy="0"/>
          </a:xfrm>
          <a:prstGeom prst="line">
            <a:avLst/>
          </a:prstGeom>
          <a:noFill/>
          <a:ln w="7620">
            <a:solidFill>
              <a:srgbClr val="1E4E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875415" y="3124839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07238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508760" y="3090672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i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“D100'e 1 dakika, sahile 2 dakika.”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694176"/>
            <a:ext cx="10543032" cy="0"/>
          </a:xfrm>
          <a:prstGeom prst="line">
            <a:avLst/>
          </a:prstGeom>
          <a:noFill/>
          <a:ln w="7620">
            <a:solidFill>
              <a:srgbClr val="1E4E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875415" y="3911223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85876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08760" y="3877056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i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“Ağırlıklı olarak yatırımcıya uygun 1+0 ve 1+1 daireler var.”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480560"/>
            <a:ext cx="10543032" cy="0"/>
          </a:xfrm>
          <a:prstGeom prst="line">
            <a:avLst/>
          </a:prstGeom>
          <a:noFill/>
          <a:ln w="7620">
            <a:solidFill>
              <a:srgbClr val="1E4E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875415" y="4697607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464515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508760" y="4663440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i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“Bankasız, faizsiz ve kefilsiz 60 aya kadar ödeme modeli bulunuyor.”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5266944"/>
            <a:ext cx="10543032" cy="0"/>
          </a:xfrm>
          <a:prstGeom prst="line">
            <a:avLst/>
          </a:prstGeom>
          <a:noFill/>
          <a:ln w="7620">
            <a:solidFill>
              <a:srgbClr val="1E4E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700000">
            <a:off x="875415" y="5483991"/>
            <a:ext cx="297426" cy="297426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" y="543153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08760" y="544982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i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“İstanbul'a yakınlığıyla yalnız İzmit'e değil, Marmara yatırımcısına da hitap ediyor.”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 rot="2700000">
            <a:off x="11306691" y="791091"/>
            <a:ext cx="155179" cy="155179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5" name="Shape 23"/>
          <p:cNvSpPr/>
          <p:nvPr/>
        </p:nvSpPr>
        <p:spPr>
          <a:xfrm rot="2700000">
            <a:off x="11557030" y="953648"/>
            <a:ext cx="268977" cy="268977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İTİRAZ YÖNETİMİ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MÜŞTERİ SORARSA NE SÖYLEYECEĞİZ?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56208" y="2392400"/>
            <a:ext cx="116384" cy="11638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226771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i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“Kooperatif modeli güvenli mi?”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120640" y="2286000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Proje, 1163 sayılı Kooperatifler Kanunu çerçevesinde faaliyet gösterir; resmî kayıtlar T.C. Ticaret Bakanlığı'nın KOOPBİS sisteminde tutulur.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3072384"/>
            <a:ext cx="10543032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856208" y="3325088"/>
            <a:ext cx="116384" cy="11638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2004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i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“Banka kredisi gerekiyor mu?”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20640" y="3218688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Hayır. Proje kendi tasarrufa dayalı ödeme modelini sunar; banka, faiz ve kefil devrede değildir.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4005072"/>
            <a:ext cx="10543032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856208" y="4257776"/>
            <a:ext cx="116384" cy="11638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4133088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i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“Konum gerçekten merkezi mi?”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20640" y="4151376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 1 dakika, İzmit Sahili 2 dakika, 41 Burada AVM 3 dakika, şehir merkezi 5 dakika.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4937760"/>
            <a:ext cx="10543032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856208" y="5190464"/>
            <a:ext cx="116384" cy="116384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5065776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i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“Yatırım için neden 1+0 / 1+1?”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120640" y="5084064"/>
            <a:ext cx="6263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Kompakt daireler daha geniş kiracı ve yatırımcı segmentine hitap eder; kiralama hızlanır, likidite artar.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6144768"/>
            <a:ext cx="10543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Bilgilendirme amaçlıdır; yasal veya finansal garanti niteliği taşımaz. Belgeler satış ofisinden talep edilebilir.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46320" cy="685800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KURUMSAL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SATIŞTA EN GÜÇLÜ</a:t>
            </a:r>
            <a:endParaRPr lang="en-US" sz="29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9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UNSUR: GÜVEN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822960" y="2670048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4436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A9C9D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Emlakçının müşterisine karşı arkasında duracağı zemin: kayıtlı, denetlenen, belgeli bir yapı.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 rot="2700000">
            <a:off x="2606926" y="4710046"/>
            <a:ext cx="1461267" cy="146126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8" name="Image 0" descr="/home/user/miaparkocean/sunum/kaynak/sekil/e-gu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4526280"/>
            <a:ext cx="1828800" cy="1828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 rot="2700000">
            <a:off x="1105124" y="4762724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Shape 7"/>
          <p:cNvSpPr/>
          <p:nvPr/>
        </p:nvSpPr>
        <p:spPr>
          <a:xfrm>
            <a:off x="5440680" y="1298448"/>
            <a:ext cx="18288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06440" y="1133856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S.S. Yahya Kaptan Birlik Yapı Kooperatifi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06440" y="146304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Projeyi geliştiren yapı kooperatifi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440680" y="1938528"/>
            <a:ext cx="589788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40680" y="2340864"/>
            <a:ext cx="18288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06440" y="2176272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T.C. Ticaret Bakanlığı — KOOPBİS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806440" y="2505456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Kooperatif Bilgi Sistemi'nde kayıtlı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40680" y="2980944"/>
            <a:ext cx="589788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40680" y="3383280"/>
            <a:ext cx="18288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06440" y="321868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1163 Sayılı Kooperatifler Kanunu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806440" y="3547872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Kuruluş, genel kurul ve denetim bu kanuna tabi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40680" y="4023360"/>
            <a:ext cx="5897880" cy="0"/>
          </a:xfrm>
          <a:prstGeom prst="line">
            <a:avLst/>
          </a:prstGeom>
          <a:noFill/>
          <a:ln w="7620">
            <a:solidFill>
              <a:srgbClr val="D9E7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40680" y="4425696"/>
            <a:ext cx="18288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806440" y="4261104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Gayrimenkul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806440" y="459028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Tek yetkili satıcı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40680" y="5394960"/>
            <a:ext cx="5897880" cy="658368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26" name="Image 1" descr="/home/user/miaparkocean/public/ykb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5504688"/>
            <a:ext cx="438912" cy="438912"/>
          </a:xfrm>
          <a:prstGeom prst="rect">
            <a:avLst/>
          </a:prstGeom>
        </p:spPr>
      </p:pic>
      <p:pic>
        <p:nvPicPr>
          <p:cNvPr id="27" name="Image 2" descr="/home/user/miaparkocean/public/koopbis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5559552"/>
            <a:ext cx="1143000" cy="347472"/>
          </a:xfrm>
          <a:prstGeom prst="rect">
            <a:avLst/>
          </a:prstGeom>
        </p:spPr>
      </p:pic>
      <p:pic>
        <p:nvPicPr>
          <p:cNvPr id="28" name="Image 3" descr="/home/user/miaparkocean/public/ticaret-bakanligi-logo.web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5504688"/>
            <a:ext cx="438912" cy="438912"/>
          </a:xfrm>
          <a:prstGeom prst="rect">
            <a:avLst/>
          </a:prstGeom>
        </p:spPr>
      </p:pic>
      <p:pic>
        <p:nvPicPr>
          <p:cNvPr id="29" name="Image 4" descr="/home/user/miaparkocean/sunum/kaynak/sekil/ocean-logo-renkl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5559552"/>
            <a:ext cx="7863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440680" y="6181344"/>
            <a:ext cx="5897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50" i="1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Belgeler satış ofisinden talep edilebilir.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İŞ BİRLİĞİ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EMLAKÇIYLA NASIL ÇALIŞIYORUZ?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3401568"/>
            <a:ext cx="9738360" cy="0"/>
          </a:xfrm>
          <a:prstGeom prst="line">
            <a:avLst/>
          </a:prstGeom>
          <a:noFill/>
          <a:ln w="15875">
            <a:solidFill>
              <a:srgbClr val="1A7496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rot="2700000">
            <a:off x="1099102" y="2900470"/>
            <a:ext cx="1002197" cy="100219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700000">
            <a:off x="1199321" y="3000689"/>
            <a:ext cx="801757" cy="801757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8" name="Image 0" descr="/home/user/miaparkocean/sunum/kaynak/sekil/i-belge-bey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9256" y="3160624"/>
            <a:ext cx="481889" cy="48188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b="1" spc="24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94360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Kayıt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94360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Emlakçı kaydı ve yetki belgesi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2700000">
            <a:off x="3366814" y="2900470"/>
            <a:ext cx="1002197" cy="100219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3467033" y="3000689"/>
            <a:ext cx="801757" cy="801757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14" name="Image 1" descr="/home/user/miaparkocean/sunum/kaynak/sekil/i-mail-beya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968" y="3160624"/>
            <a:ext cx="481889" cy="48188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862072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b="1" spc="24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2862072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Bildirim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2862072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Müşteri ofise gelmeden bildirilir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 rot="2700000">
            <a:off x="5634526" y="2900470"/>
            <a:ext cx="1002197" cy="100219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2700000">
            <a:off x="5734745" y="3000689"/>
            <a:ext cx="801757" cy="801757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20" name="Image 2" descr="/home/user/miaparkocean/sunum/kaynak/sekil/i-balon-beyaz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680" y="3160624"/>
            <a:ext cx="481889" cy="481889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29784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b="1" spc="24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129784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Görüşme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5129784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Satış ofisinde birlikte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 rot="2700000">
            <a:off x="7902238" y="2900470"/>
            <a:ext cx="1002197" cy="100219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 rot="2700000">
            <a:off x="8002457" y="3000689"/>
            <a:ext cx="801757" cy="801757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26" name="Image 3" descr="/home/user/miaparkocean/sunum/kaynak/sekil/i-kalem-beya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92" y="3160624"/>
            <a:ext cx="481889" cy="481889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397496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b="1" spc="24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7397496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Sözleşme</a:t>
            </a:r>
            <a:endParaRPr lang="en-US" sz="1350" dirty="0"/>
          </a:p>
        </p:txBody>
      </p:sp>
      <p:sp>
        <p:nvSpPr>
          <p:cNvPr id="29" name="Text 23"/>
          <p:cNvSpPr/>
          <p:nvPr/>
        </p:nvSpPr>
        <p:spPr>
          <a:xfrm>
            <a:off x="7397496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Ortaklık işlemleri ve peşinat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 rot="2700000">
            <a:off x="10169950" y="2900470"/>
            <a:ext cx="1002197" cy="100219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 rot="2700000">
            <a:off x="10270169" y="3000689"/>
            <a:ext cx="801757" cy="801757"/>
          </a:xfrm>
          <a:prstGeom prst="rect">
            <a:avLst/>
          </a:prstGeom>
          <a:solidFill>
            <a:srgbClr val="04283A"/>
          </a:solidFill>
          <a:ln/>
        </p:spPr>
      </p:sp>
      <p:pic>
        <p:nvPicPr>
          <p:cNvPr id="32" name="Image 4" descr="/home/user/miaparkocean/sunum/kaynak/sekil/i-banknot-beya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0104" y="3160624"/>
            <a:ext cx="481889" cy="481889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665208" y="433425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b="1" spc="24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9665208" y="4572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Hakediş</a:t>
            </a:r>
            <a:endParaRPr lang="en-US" sz="1350" dirty="0"/>
          </a:p>
        </p:txBody>
      </p:sp>
      <p:sp>
        <p:nvSpPr>
          <p:cNvPr id="35" name="Text 28"/>
          <p:cNvSpPr/>
          <p:nvPr/>
        </p:nvSpPr>
        <p:spPr>
          <a:xfrm>
            <a:off x="9665208" y="488289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Komisyon ödemesi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822960" y="5614416"/>
            <a:ext cx="10543032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1A7496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1097280" y="57241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b="1" spc="20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SUNUMDAN ÖNCE NETLEŞTİRİN</a:t>
            </a:r>
            <a:endParaRPr lang="en-US" sz="900" dirty="0"/>
          </a:p>
        </p:txBody>
      </p:sp>
      <p:sp>
        <p:nvSpPr>
          <p:cNvPr id="38" name="Text 31"/>
          <p:cNvSpPr/>
          <p:nvPr/>
        </p:nvSpPr>
        <p:spPr>
          <a:xfrm>
            <a:off x="1097280" y="596188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Komisyon oranı  ______        Hakediş zamanı  ______        Müşteri koruma süresi  ______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 DESTEĞİ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6070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3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KULLANABİLECEĞİNİZ MATERYALLER</a:t>
            </a:r>
            <a:endParaRPr lang="en-US" sz="23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3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 SATIŞ DESTEK EKİPMANLARI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822960" y="2121408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44386" y="258174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1115568" y="24871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bilbord tasarımı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 rot="2700000">
            <a:off x="4090506" y="258174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8" name="Text 6"/>
          <p:cNvSpPr/>
          <p:nvPr/>
        </p:nvSpPr>
        <p:spPr>
          <a:xfrm>
            <a:off x="4361688" y="248716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arsa panosu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2700000">
            <a:off x="844386" y="313038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8"/>
          <p:cNvSpPr/>
          <p:nvPr/>
        </p:nvSpPr>
        <p:spPr>
          <a:xfrm>
            <a:off x="1115568" y="30358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Roll-up ve totem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2700000">
            <a:off x="4090506" y="313038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2" name="Text 10"/>
          <p:cNvSpPr/>
          <p:nvPr/>
        </p:nvSpPr>
        <p:spPr>
          <a:xfrm>
            <a:off x="4361688" y="30358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Yaka kartları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2700000">
            <a:off x="844386" y="367902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2"/>
          <p:cNvSpPr/>
          <p:nvPr/>
        </p:nvSpPr>
        <p:spPr>
          <a:xfrm>
            <a:off x="1115568" y="35844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Dijital katalog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2700000">
            <a:off x="4090506" y="367902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6" name="Text 14"/>
          <p:cNvSpPr/>
          <p:nvPr/>
        </p:nvSpPr>
        <p:spPr>
          <a:xfrm>
            <a:off x="4361688" y="35844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miaparkocean.com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2700000">
            <a:off x="844386" y="422766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6"/>
          <p:cNvSpPr/>
          <p:nvPr/>
        </p:nvSpPr>
        <p:spPr>
          <a:xfrm>
            <a:off x="1115568" y="413308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Sosyal medya seti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rot="2700000">
            <a:off x="4090506" y="4227666"/>
            <a:ext cx="103453" cy="103453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0" name="Text 18"/>
          <p:cNvSpPr/>
          <p:nvPr/>
        </p:nvSpPr>
        <p:spPr>
          <a:xfrm>
            <a:off x="4361688" y="413308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Tanıtım filmi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4754880"/>
            <a:ext cx="6492240" cy="786384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22" name="Text 20"/>
          <p:cNvSpPr/>
          <p:nvPr/>
        </p:nvSpPr>
        <p:spPr>
          <a:xfrm>
            <a:off x="1115568" y="4754880"/>
            <a:ext cx="5943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Hepsi baskıya hazır dosya olarak paylaşılır. Bugün en az katalog ve site linki elinizde olsun.</a:t>
            </a:r>
            <a:endParaRPr lang="en-US" sz="1150" dirty="0"/>
          </a:p>
        </p:txBody>
      </p:sp>
      <p:pic>
        <p:nvPicPr>
          <p:cNvPr id="23" name="Image 0" descr="/home/user/miaparkocean/sunum/kaynak/foto/m-bilbo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248" y="1005840"/>
            <a:ext cx="3566160" cy="2139696"/>
          </a:xfrm>
          <a:prstGeom prst="rect">
            <a:avLst/>
          </a:prstGeom>
        </p:spPr>
      </p:pic>
      <p:pic>
        <p:nvPicPr>
          <p:cNvPr id="24" name="Image 1" descr="/home/user/miaparkocean/sunum/kaynak/foto/m-roll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3310128"/>
            <a:ext cx="1188720" cy="2377440"/>
          </a:xfrm>
          <a:prstGeom prst="rect">
            <a:avLst/>
          </a:prstGeom>
        </p:spPr>
      </p:pic>
      <p:pic>
        <p:nvPicPr>
          <p:cNvPr id="25" name="Image 2" descr="/home/user/miaparkocean/sunum/kaynak/foto/m-arsa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3310128"/>
            <a:ext cx="2212848" cy="1481328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 rot="2700000">
            <a:off x="9334724" y="5219924"/>
            <a:ext cx="258631" cy="258631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7" name="Text 22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iaparkocean/sunum/kaynak/foto/gal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380183" cy="3127248"/>
          </a:xfrm>
          <a:prstGeom prst="rect">
            <a:avLst/>
          </a:prstGeom>
        </p:spPr>
      </p:pic>
      <p:pic>
        <p:nvPicPr>
          <p:cNvPr id="3" name="Image 1" descr="/home/user/miaparkocean/sunum/kaynak/foto/gal-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335" y="0"/>
            <a:ext cx="2380183" cy="3127248"/>
          </a:xfrm>
          <a:prstGeom prst="rect">
            <a:avLst/>
          </a:prstGeom>
        </p:spPr>
      </p:pic>
      <p:pic>
        <p:nvPicPr>
          <p:cNvPr id="4" name="Image 2" descr="/home/user/miaparkocean/sunum/kaynak/foto/gal-0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670" y="0"/>
            <a:ext cx="2380183" cy="3127248"/>
          </a:xfrm>
          <a:prstGeom prst="rect">
            <a:avLst/>
          </a:prstGeom>
        </p:spPr>
      </p:pic>
      <p:pic>
        <p:nvPicPr>
          <p:cNvPr id="5" name="Image 3" descr="/home/user/miaparkocean/sunum/kaynak/foto/gal-0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006" y="0"/>
            <a:ext cx="2380183" cy="3127248"/>
          </a:xfrm>
          <a:prstGeom prst="rect">
            <a:avLst/>
          </a:prstGeom>
        </p:spPr>
      </p:pic>
      <p:pic>
        <p:nvPicPr>
          <p:cNvPr id="6" name="Image 4" descr="/home/user/miaparkocean/sunum/kaynak/foto/gal-0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341" y="0"/>
            <a:ext cx="2380183" cy="3127248"/>
          </a:xfrm>
          <a:prstGeom prst="rect">
            <a:avLst/>
          </a:prstGeom>
        </p:spPr>
      </p:pic>
      <p:pic>
        <p:nvPicPr>
          <p:cNvPr id="7" name="Image 5" descr="/home/user/miaparkocean/sunum/kaynak/foto/gal-06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200400"/>
            <a:ext cx="2380183" cy="3127248"/>
          </a:xfrm>
          <a:prstGeom prst="rect">
            <a:avLst/>
          </a:prstGeom>
        </p:spPr>
      </p:pic>
      <p:pic>
        <p:nvPicPr>
          <p:cNvPr id="8" name="Image 6" descr="/home/user/miaparkocean/sunum/kaynak/foto/gal-07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3335" y="3200400"/>
            <a:ext cx="2380183" cy="3127248"/>
          </a:xfrm>
          <a:prstGeom prst="rect">
            <a:avLst/>
          </a:prstGeom>
        </p:spPr>
      </p:pic>
      <p:pic>
        <p:nvPicPr>
          <p:cNvPr id="9" name="Image 7" descr="/home/user/miaparkocean/sunum/kaynak/foto/gal-08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6670" y="3200400"/>
            <a:ext cx="2380183" cy="3127248"/>
          </a:xfrm>
          <a:prstGeom prst="rect">
            <a:avLst/>
          </a:prstGeom>
        </p:spPr>
      </p:pic>
      <p:pic>
        <p:nvPicPr>
          <p:cNvPr id="10" name="Image 8" descr="/home/user/miaparkocean/sunum/kaynak/foto/gal-09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60006" y="3200400"/>
            <a:ext cx="2380183" cy="3127248"/>
          </a:xfrm>
          <a:prstGeom prst="rect">
            <a:avLst/>
          </a:prstGeom>
        </p:spPr>
      </p:pic>
      <p:pic>
        <p:nvPicPr>
          <p:cNvPr id="11" name="Image 9" descr="/home/user/miaparkocean/sunum/kaynak/foto/gal-10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13341" y="3200400"/>
            <a:ext cx="2380183" cy="3127248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822960" y="6455664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00" spc="26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PROJE GÖRSELLERİ</a:t>
            </a:r>
            <a:endParaRPr lang="en-US" sz="900" dirty="0"/>
          </a:p>
        </p:txBody>
      </p:sp>
      <p:sp>
        <p:nvSpPr>
          <p:cNvPr id="13" name="Text 1"/>
          <p:cNvSpPr/>
          <p:nvPr/>
        </p:nvSpPr>
        <p:spPr>
          <a:xfrm>
            <a:off x="6796735" y="645566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900" spc="12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Görseller projenin kendi render'larıdır.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ÖZET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RAKAMLARLA MİA PARK OCEAN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2700000">
            <a:off x="898140" y="258063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22128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80160" y="31272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KONUT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280160" y="349300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2700000">
            <a:off x="4464300" y="258063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22128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4846320" y="31272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 1+0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349300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2700000">
            <a:off x="8030460" y="258063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4" name="Text 12"/>
          <p:cNvSpPr/>
          <p:nvPr/>
        </p:nvSpPr>
        <p:spPr>
          <a:xfrm>
            <a:off x="8394192" y="221284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8412480" y="31272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ADET 1+1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412480" y="349300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898140" y="436371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18" name="Text 16"/>
          <p:cNvSpPr/>
          <p:nvPr/>
        </p:nvSpPr>
        <p:spPr>
          <a:xfrm>
            <a:off x="1261872" y="39959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 AY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280160" y="4910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VADE FARKSIZ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80160" y="527608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2700000">
            <a:off x="4464300" y="436371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2" name="Text 20"/>
          <p:cNvSpPr/>
          <p:nvPr/>
        </p:nvSpPr>
        <p:spPr>
          <a:xfrm>
            <a:off x="4828032" y="39959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4846320" y="4910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PEŞİNAT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527608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700000">
            <a:off x="8030460" y="4363716"/>
            <a:ext cx="142247" cy="142247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26" name="Text 24"/>
          <p:cNvSpPr/>
          <p:nvPr/>
        </p:nvSpPr>
        <p:spPr>
          <a:xfrm>
            <a:off x="8394192" y="39959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DK</a:t>
            </a:r>
            <a:endParaRPr lang="en-US" sz="4200" dirty="0"/>
          </a:p>
        </p:txBody>
      </p:sp>
      <p:sp>
        <p:nvSpPr>
          <p:cNvPr id="27" name="Text 25"/>
          <p:cNvSpPr/>
          <p:nvPr/>
        </p:nvSpPr>
        <p:spPr>
          <a:xfrm>
            <a:off x="8412480" y="49103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b="1" spc="220" kern="0" dirty="0">
                <a:solidFill>
                  <a:srgbClr val="48ABC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 KARAYOLU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2480" y="5276088"/>
            <a:ext cx="2651760" cy="0"/>
          </a:xfrm>
          <a:prstGeom prst="line">
            <a:avLst/>
          </a:prstGeom>
          <a:noFill/>
          <a:ln w="9525">
            <a:solidFill>
              <a:srgbClr val="1E4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700000">
            <a:off x="11306691" y="791091"/>
            <a:ext cx="155179" cy="155179"/>
          </a:xfrm>
          <a:prstGeom prst="rect">
            <a:avLst/>
          </a:prstGeom>
          <a:solidFill>
            <a:srgbClr val="1A7496"/>
          </a:solidFill>
          <a:ln/>
        </p:spPr>
      </p:sp>
      <p:sp>
        <p:nvSpPr>
          <p:cNvPr id="30" name="Shape 28"/>
          <p:cNvSpPr/>
          <p:nvPr/>
        </p:nvSpPr>
        <p:spPr>
          <a:xfrm rot="2700000">
            <a:off x="11557030" y="953648"/>
            <a:ext cx="268977" cy="268977"/>
          </a:xfrm>
          <a:prstGeom prst="rect">
            <a:avLst/>
          </a:prstGeom>
          <a:ln w="11430">
            <a:solidFill>
              <a:srgbClr val="1A749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437376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613855" y="643737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50" spc="22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863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20" kern="0" dirty="0">
                <a:solidFill>
                  <a:srgbClr val="1A749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SONUÇ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115568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spc="6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NEDEN MİA PARK OCEAN?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59152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871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Merkezi lokasyon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D100'e 1 dk, merkeze 5 dk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89120" y="2359152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4871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Gelişen MİA Bölgesi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0" y="2816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İzmit'in yeni değer aksı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55280" y="2359152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24871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Derin kompakt stok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955280" y="2816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472 adet 1+0, 112 adet 1+1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657600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785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Erişilebilir ödeme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%30 peşinat, 60 ay vade farksız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3785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Geniş müşteri profili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8912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Beş ayrı alıcı segmenti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55280" y="3657600"/>
            <a:ext cx="3200400" cy="0"/>
          </a:xfrm>
          <a:prstGeom prst="line">
            <a:avLst/>
          </a:prstGeom>
          <a:noFill/>
          <a:ln w="12700">
            <a:solidFill>
              <a:srgbClr val="1A74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55280" y="37856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Kurumsal güven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95528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KOOPBİS kayıtlı, kanuna tabi yapı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0" y="5175504"/>
            <a:ext cx="12191695" cy="1188720"/>
          </a:xfrm>
          <a:prstGeom prst="rect">
            <a:avLst/>
          </a:prstGeom>
          <a:solidFill>
            <a:srgbClr val="04283A"/>
          </a:solidFill>
          <a:ln/>
        </p:spPr>
      </p:sp>
      <p:sp>
        <p:nvSpPr>
          <p:cNvPr id="24" name="Text 22"/>
          <p:cNvSpPr/>
          <p:nvPr/>
        </p:nvSpPr>
        <p:spPr>
          <a:xfrm>
            <a:off x="0" y="5175504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400" b="1" spc="1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DOĞRU KONUM.  DOĞRU ÜRÜN.  GÜÇLÜ SATIŞ HİKÂYESİ.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0" y="6473952"/>
            <a:ext cx="12191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spc="200" kern="0" dirty="0">
                <a:solidFill>
                  <a:srgbClr val="47606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MİA PARK OCEAN  ·  İZMİT MİA BÖLGESİ  ·  OCEAN GAYRİMENKUL, TEK YETKİLİ SATICI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428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8122390" y="1492990"/>
            <a:ext cx="2683301" cy="2683301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8359123" y="1455403"/>
            <a:ext cx="2484154" cy="2484154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4" name="Image 0" descr="/home/user/miaparkocean/sunum/kaynak/sekil/e-kapani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1143000"/>
            <a:ext cx="3108960" cy="3108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2700000">
            <a:off x="6795011" y="4051811"/>
            <a:ext cx="1680457" cy="1680457"/>
          </a:xfrm>
          <a:prstGeom prst="rect">
            <a:avLst/>
          </a:prstGeom>
          <a:ln w="12700">
            <a:solidFill>
              <a:srgbClr val="1A7496"/>
            </a:solidFill>
            <a:prstDash val="solid"/>
          </a:ln>
        </p:spPr>
      </p:sp>
      <p:pic>
        <p:nvPicPr>
          <p:cNvPr id="6" name="Image 1" descr="/home/user/miaparkocean/sunum/kaynak/sekil/e-kapani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840480"/>
            <a:ext cx="2103120" cy="2103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 rot="2700000">
            <a:off x="10985715" y="4539195"/>
            <a:ext cx="614250" cy="614250"/>
          </a:xfrm>
          <a:prstGeom prst="rect">
            <a:avLst/>
          </a:prstGeom>
          <a:solidFill>
            <a:srgbClr val="0A3A55"/>
          </a:solidFill>
          <a:ln/>
        </p:spPr>
      </p:sp>
      <p:sp>
        <p:nvSpPr>
          <p:cNvPr id="8" name="Shape 4"/>
          <p:cNvSpPr/>
          <p:nvPr/>
        </p:nvSpPr>
        <p:spPr>
          <a:xfrm rot="2700000">
            <a:off x="6722219" y="1098659"/>
            <a:ext cx="271563" cy="271563"/>
          </a:xfrm>
          <a:prstGeom prst="rect">
            <a:avLst/>
          </a:prstGeom>
          <a:solidFill>
            <a:srgbClr val="1A7496"/>
          </a:solidFill>
          <a:ln/>
        </p:spPr>
      </p:sp>
      <p:pic>
        <p:nvPicPr>
          <p:cNvPr id="9" name="Image 2" descr="/home/user/miaparkocean/public/brand/logo-ocean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31720" cy="1600200"/>
          </a:xfrm>
          <a:prstGeom prst="rect">
            <a:avLst/>
          </a:prstGeom>
        </p:spPr>
      </p:pic>
      <p:pic>
        <p:nvPicPr>
          <p:cNvPr id="10" name="Image 3" descr="/home/user/miaparkocean/public/ocean-logo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207008"/>
            <a:ext cx="1325880" cy="54864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822960" y="2542032"/>
            <a:ext cx="1188720" cy="0"/>
          </a:xfrm>
          <a:prstGeom prst="line">
            <a:avLst/>
          </a:prstGeom>
          <a:noFill/>
          <a:ln w="19050">
            <a:solidFill>
              <a:srgbClr val="1A7496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822960" y="2761488"/>
            <a:ext cx="5852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İZMİT'İN YENİ SATIŞ FIRSATINI</a:t>
            </a:r>
            <a:endParaRPr lang="en-US" sz="24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400" b="1" spc="60" kern="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PORTFÖYÜNÜZE EKLEYİN.</a:t>
            </a:r>
            <a:endParaRPr lang="en-US" sz="2400" dirty="0"/>
          </a:p>
        </p:txBody>
      </p:sp>
      <p:pic>
        <p:nvPicPr>
          <p:cNvPr id="13" name="Image 4" descr="/home/user/miaparkocean/sunum/kaynak/sekil/i-telefon-beyaz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215384"/>
            <a:ext cx="274320" cy="2743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261872" y="41879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0540 028 00 41  ·  0541 128 40 41</a:t>
            </a:r>
            <a:endParaRPr lang="en-US" sz="1250" dirty="0"/>
          </a:p>
        </p:txBody>
      </p:sp>
      <p:pic>
        <p:nvPicPr>
          <p:cNvPr id="15" name="Image 5" descr="/home/user/miaparkocean/sunum/kaynak/sekil/i-mail-beyaz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672584"/>
            <a:ext cx="274320" cy="27432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261872" y="4645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info@oceangayrimenkul41.com</a:t>
            </a:r>
            <a:endParaRPr lang="en-US" sz="1250" dirty="0"/>
          </a:p>
        </p:txBody>
      </p:sp>
      <p:pic>
        <p:nvPicPr>
          <p:cNvPr id="17" name="Image 6" descr="/home/user/miaparkocean/sunum/kaynak/sekil/i-globe-beyaz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129784"/>
            <a:ext cx="274320" cy="274320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1261872" y="51023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miaparkocean.com</a:t>
            </a:r>
            <a:endParaRPr lang="en-US" sz="1250" dirty="0"/>
          </a:p>
        </p:txBody>
      </p:sp>
      <p:pic>
        <p:nvPicPr>
          <p:cNvPr id="19" name="Image 7" descr="/home/user/miaparkocean/sunum/kaynak/sekil/i-insta-beyaz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586984"/>
            <a:ext cx="274320" cy="274320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1261872" y="55595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AF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@miaparkocean</a:t>
            </a:r>
            <a:endParaRPr lang="en-US" sz="1250" dirty="0"/>
          </a:p>
        </p:txBody>
      </p:sp>
      <p:sp>
        <p:nvSpPr>
          <p:cNvPr id="21" name="Shape 11"/>
          <p:cNvSpPr/>
          <p:nvPr/>
        </p:nvSpPr>
        <p:spPr>
          <a:xfrm>
            <a:off x="822960" y="6053328"/>
            <a:ext cx="3520440" cy="530352"/>
          </a:xfrm>
          <a:prstGeom prst="rect">
            <a:avLst/>
          </a:prstGeom>
          <a:solidFill>
            <a:srgbClr val="48ABC5"/>
          </a:solidFill>
          <a:ln/>
        </p:spPr>
      </p:sp>
      <p:sp>
        <p:nvSpPr>
          <p:cNvPr id="22" name="Text 12"/>
          <p:cNvSpPr/>
          <p:nvPr/>
        </p:nvSpPr>
        <p:spPr>
          <a:xfrm>
            <a:off x="822960" y="6053328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spc="120" kern="0" dirty="0">
                <a:solidFill>
                  <a:srgbClr val="0428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SATIŞ EKİBİMİZLE İLETİŞİME GEÇİN</a:t>
            </a:r>
            <a:endParaRPr lang="en-US" sz="1100" dirty="0"/>
          </a:p>
        </p:txBody>
      </p:sp>
      <p:sp>
        <p:nvSpPr>
          <p:cNvPr id="23" name="Text 13"/>
          <p:cNvSpPr/>
          <p:nvPr/>
        </p:nvSpPr>
        <p:spPr>
          <a:xfrm>
            <a:off x="4617720" y="647395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en-US" sz="850" spc="160" kern="0" dirty="0">
                <a:solidFill>
                  <a:srgbClr val="7E9AA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OCEAN GAYRİMENKUL — TEK YETKİLİ SATICI  ·  S.S. YAHYA KAPTAN BİRLİK YAPI KOOPERATİFİ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MİA PARK OCEAN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MİA PARK OCEAN — Lansman Sunumu</dc:title>
  <dc:subject>İzmit MİA Bölgesi · Broker Presentation</dc:subject>
  <dc:creator>Ocean Gayrimenkul</dc:creator>
  <cp:lastModifiedBy>Ocean Gayrimenkul</cp:lastModifiedBy>
  <cp:revision>1</cp:revision>
  <dcterms:created xsi:type="dcterms:W3CDTF">2026-08-20T20:07:10Z</dcterms:created>
  <dcterms:modified xsi:type="dcterms:W3CDTF">2026-08-20T20:07:10Z</dcterms:modified>
</cp:coreProperties>
</file>