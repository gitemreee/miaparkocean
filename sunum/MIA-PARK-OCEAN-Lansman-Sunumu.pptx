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₺/m²</c:v>
                </c:pt>
              </c:strCache>
            </c:strRef>
          </c:tx>
          <c:spPr>
            <a:solidFill>
              <a:srgbClr val="1789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428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89000</c:v>
                </c:pt>
                <c:pt idx="1">
                  <c:v>111250</c:v>
                </c:pt>
                <c:pt idx="2">
                  <c:v>139063</c:v>
                </c:pt>
                <c:pt idx="3">
                  <c:v>173828</c:v>
                </c:pt>
                <c:pt idx="4">
                  <c:v>217285</c:v>
                </c:pt>
                <c:pt idx="5">
                  <c:v>271606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428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6F1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Açılış. Kendinizi ve kooperatifi tanıtın. Sunum 20 dakika, sonrasında soru-cevap. Bugünün amacı: MİA PARK OCEAN'ı satabilecek kadar iyi anlatmak.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Gündemi hızlı geçin. Vurgu 3. ve 6. başlıkta: ödeme modeli ve iş birliği. Emlakçı bu ikisini anlarsa gerisi kolay.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600 rakamını vurgulayın: emlakçı için sürekli stok demek. Dört tip, her müşteri profiline bir cevap.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Mesafeleri ezberleyin; en çok D100 ve şehir hastanesi sorulur. İzmit Sahili süresi teyide açık, kesin konuşmayın.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472 adet 1+0 — hacim burada. 16'şar adetlik bahçeli tipler gerçekten kıt; 'sınırlı sayıda' derken bunu kastedin.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ÖNEMLİ: Süs havuzu ile yüzme havuzunu karıştırmayın. Yüzme havuzu sözü verilirse teslimde sorun çıkar.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Sunumun kalbi. Emlakçı buradan tek cümle götürsün: bankaya gitmeden, faiz ödemeden, kefil bulmadan ev. Kredisi çıkmayan müşteri sizin müşteriniz.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'Öngörü' kelimesini mutlaka kullanın. Taahhüt gibi anlatılırsa hem etik hem hukuki sorun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Emlakçının en çok takıldığı yer. 'Kooperatif riskli mi?' sorusuna dört maddeyle cevap verin. KOOPBİS'i telefonda canlı gösterin — en ikna edici hamle.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slaydı fotoğraflatın. Sahada en çok gelen dört itiraz. Cevapları ezberden değil kendi cümlelerinizle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Portföyünüzdeki kredisi çıkmayan müşterileri hatırlayın — bu projenin asıl hedefi onlar. Reddedilen kredi başvurusu burada satışa dönüyor.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Somut olun: hangi dosyayı ne zaman göndereceğinizi söyleyin. Emlakçı eli boş dönmesin — bugün en az katalog ve site linkini verin.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DİKKAT: Komisyon oranı, hakediş zamanı ve müşteri koruma süresi BOŞ. Bu üç rakamı sunumdan önce doldurun; emlakçının en çok merak ettiği slayt bu, boş kalırsa güven kaybı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Süreci dört adımda anlatın. Tapu sorusu mutlaka gelir; ferdileşme kelimesini kullanın ve inşaat bitiminde olduğunu net söyleyin.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Kapanış: net çağrı yapın. Kayıt formunu dağıtın, bugün kaydolan emlakçıya katalog ve görsel setini akşam gönderin.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image" Target="../media/image-6-2.png"/><Relationship Id="rId8" Type="http://schemas.openxmlformats.org/officeDocument/2006/relationships/image" Target="../media/image-6-2.png"/><Relationship Id="rId9" Type="http://schemas.openxmlformats.org/officeDocument/2006/relationships/image" Target="../media/image-6-2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8.png"/><Relationship Id="rId10" Type="http://schemas.openxmlformats.org/officeDocument/2006/relationships/image" Target="../media/image-12-8.png"/><Relationship Id="rId11" Type="http://schemas.openxmlformats.org/officeDocument/2006/relationships/image" Target="../media/image-12-8.png"/><Relationship Id="rId12" Type="http://schemas.openxmlformats.org/officeDocument/2006/relationships/image" Target="../media/image-12-8.png"/><Relationship Id="rId13" Type="http://schemas.openxmlformats.org/officeDocument/2006/relationships/image" Target="../media/image-12-8.png"/><Relationship Id="rId14" Type="http://schemas.openxmlformats.org/officeDocument/2006/relationships/image" Target="../media/image-12-8.png"/><Relationship Id="rId15" Type="http://schemas.openxmlformats.org/officeDocument/2006/relationships/image" Target="../media/image-12-8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1-kapa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iaparkocean/public/brand/logo-ocean-t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75488"/>
            <a:ext cx="2395728" cy="1655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26151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LANSMAN · İŞ ORTAKLARI SUNUMU</a:t>
            </a:r>
            <a:endParaRPr lang="en-US" sz="1150" dirty="0"/>
          </a:p>
        </p:txBody>
      </p:sp>
      <p:sp>
        <p:nvSpPr>
          <p:cNvPr id="5" name="Text 1"/>
          <p:cNvSpPr/>
          <p:nvPr/>
        </p:nvSpPr>
        <p:spPr>
          <a:xfrm>
            <a:off x="658368" y="2962656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46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Lüks artık</a:t>
            </a:r>
            <a:endParaRPr lang="en-US" sz="46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46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ulaşılabilir.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658368" y="4736592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İzmit MİA Bölgesi'nde 600 daire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Tasarrufa dayalı faizsiz finansman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58368" y="5596128"/>
            <a:ext cx="4041648" cy="512064"/>
          </a:xfrm>
          <a:prstGeom prst="roundRect">
            <a:avLst>
              <a:gd name="adj" fmla="val 50000"/>
            </a:avLst>
          </a:prstGeom>
          <a:solidFill>
            <a:srgbClr val="1789C7"/>
          </a:solidFill>
          <a:ln/>
        </p:spPr>
      </p:sp>
      <p:sp>
        <p:nvSpPr>
          <p:cNvPr id="8" name="Text 4"/>
          <p:cNvSpPr/>
          <p:nvPr/>
        </p:nvSpPr>
        <p:spPr>
          <a:xfrm>
            <a:off x="658368" y="5596128"/>
            <a:ext cx="4041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Ağustos 2026   ·   Emex Otel, Kocaeli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58368" y="630936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S.S. Yahya Kaptan Birlik Yapı Kooperatifi  ·  Ocean Gayrimenkul, Tek Yetkili Satıcı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2-gund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20840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720840" y="987552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Yirmi dakikada</a:t>
            </a:r>
            <a:endParaRPr lang="en-US" sz="31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720840" y="2505456"/>
            <a:ext cx="4956048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76288" y="2606040"/>
            <a:ext cx="365760" cy="365760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7" name="Text 4"/>
          <p:cNvSpPr/>
          <p:nvPr/>
        </p:nvSpPr>
        <p:spPr>
          <a:xfrm>
            <a:off x="6876288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88352" y="250545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77824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daire, dört yaşam tipi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3182112"/>
            <a:ext cx="4956048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76288" y="3282696"/>
            <a:ext cx="365760" cy="365760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12" name="Text 9"/>
          <p:cNvSpPr/>
          <p:nvPr/>
        </p:nvSpPr>
        <p:spPr>
          <a:xfrm>
            <a:off x="6876288" y="3282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88352" y="31821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Konum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778240" y="318211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D100'e 1 dk, merkeze 5 dk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720840" y="3858768"/>
            <a:ext cx="4956048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76288" y="3959352"/>
            <a:ext cx="365760" cy="365760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17" name="Text 14"/>
          <p:cNvSpPr/>
          <p:nvPr/>
        </p:nvSpPr>
        <p:spPr>
          <a:xfrm>
            <a:off x="6876288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88352" y="38587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Ödeme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778240" y="38587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Banka yok, faiz yok, kefil yok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720840" y="4535424"/>
            <a:ext cx="4956048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76288" y="4636008"/>
            <a:ext cx="365760" cy="36576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2" name="Text 19"/>
          <p:cNvSpPr/>
          <p:nvPr/>
        </p:nvSpPr>
        <p:spPr>
          <a:xfrm>
            <a:off x="6876288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88352" y="45354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778240" y="45354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m² fiyatı, beş yıllık projeksiyon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20840" y="5212080"/>
            <a:ext cx="4956048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76288" y="5312664"/>
            <a:ext cx="365760" cy="36576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7" name="Text 24"/>
          <p:cNvSpPr/>
          <p:nvPr/>
        </p:nvSpPr>
        <p:spPr>
          <a:xfrm>
            <a:off x="6876288" y="5312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388352" y="52120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Güvence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8778240" y="5212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Kooperatif neden devlet denetiminde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720840" y="5888736"/>
            <a:ext cx="4956048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76288" y="5989320"/>
            <a:ext cx="365760" cy="36576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32" name="Text 29"/>
          <p:cNvSpPr/>
          <p:nvPr/>
        </p:nvSpPr>
        <p:spPr>
          <a:xfrm>
            <a:off x="6876288" y="5989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7388352" y="58887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 birliği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8778240" y="58887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ne veriyoruz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3-kun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KÜNYESİ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daire, dört yaşam tipi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58368" y="170078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İzmit MİA Bölgesi · S.S. Yahya Kaptan Birlik Yapı Kooperatifi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58368" y="3310128"/>
            <a:ext cx="254203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96112" y="347472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96112" y="4315968"/>
            <a:ext cx="2139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daire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29000" y="3310128"/>
            <a:ext cx="254203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66744" y="347472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3666744" y="4315968"/>
            <a:ext cx="2139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Yaşam tipi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3310128"/>
            <a:ext cx="254203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37376" y="347472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28–100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37376" y="4315968"/>
            <a:ext cx="2139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m² brüt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970264" y="3310128"/>
            <a:ext cx="254203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208008" y="347472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17" name="Text 14"/>
          <p:cNvSpPr/>
          <p:nvPr/>
        </p:nvSpPr>
        <p:spPr>
          <a:xfrm>
            <a:off x="9208008" y="4315968"/>
            <a:ext cx="2139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 sabit taksit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58368" y="5230368"/>
            <a:ext cx="10872216" cy="1005840"/>
          </a:xfrm>
          <a:prstGeom prst="roundRect">
            <a:avLst>
              <a:gd name="adj" fmla="val 12727"/>
            </a:avLst>
          </a:prstGeom>
          <a:solidFill>
            <a:srgbClr val="DDF7FA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1042416" y="5230368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tipin tamamı aynı sitede: 1+0 stüdyodan bahçeli 2+1 dublekse kadar her müşteri profiline bir cevap var.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4-kon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KONUM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987552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4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yere yakın</a:t>
            </a:r>
            <a:endParaRPr lang="en-US" sz="3400" dirty="0"/>
          </a:p>
        </p:txBody>
      </p:sp>
      <p:pic>
        <p:nvPicPr>
          <p:cNvPr id="5" name="Image 1" descr="/home/user/miaparkocean/sunum/kaynak/sekil/i-kon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10512"/>
            <a:ext cx="420624" cy="4206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07008" y="181051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İzmit'in gelişim aksı MİA Bölgesi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658368" y="2523744"/>
            <a:ext cx="3145536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932688" y="252374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D100 Karayolu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2962656" y="2651760"/>
            <a:ext cx="731520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10" name="Text 6"/>
          <p:cNvSpPr/>
          <p:nvPr/>
        </p:nvSpPr>
        <p:spPr>
          <a:xfrm>
            <a:off x="2962656" y="265176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dk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041648" y="2523744"/>
            <a:ext cx="3145536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4315968" y="252374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İzmit Sahili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345936" y="2651760"/>
            <a:ext cx="731520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14" name="Text 10"/>
          <p:cNvSpPr/>
          <p:nvPr/>
        </p:nvSpPr>
        <p:spPr>
          <a:xfrm>
            <a:off x="6345936" y="2651760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dk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58368" y="3364992"/>
            <a:ext cx="3145536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932688" y="3364992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Burada AVM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2962656" y="3493008"/>
            <a:ext cx="731520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18" name="Text 14"/>
          <p:cNvSpPr/>
          <p:nvPr/>
        </p:nvSpPr>
        <p:spPr>
          <a:xfrm>
            <a:off x="2962656" y="3493008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dk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041648" y="3364992"/>
            <a:ext cx="3145536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4315968" y="3364992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Şehir Merkezi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345936" y="3493008"/>
            <a:ext cx="731520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22" name="Text 18"/>
          <p:cNvSpPr/>
          <p:nvPr/>
        </p:nvSpPr>
        <p:spPr>
          <a:xfrm>
            <a:off x="6345936" y="3493008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58368" y="4206240"/>
            <a:ext cx="3145536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932688" y="420624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Şehir Hastanesi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2962656" y="4334256"/>
            <a:ext cx="731520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26" name="Text 22"/>
          <p:cNvSpPr/>
          <p:nvPr/>
        </p:nvSpPr>
        <p:spPr>
          <a:xfrm>
            <a:off x="2962656" y="4334256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dk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041648" y="4206240"/>
            <a:ext cx="3145536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8" name="Text 24"/>
          <p:cNvSpPr/>
          <p:nvPr/>
        </p:nvSpPr>
        <p:spPr>
          <a:xfrm>
            <a:off x="4315968" y="420624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Otoyolu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345936" y="4334256"/>
            <a:ext cx="731520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30" name="Text 26"/>
          <p:cNvSpPr/>
          <p:nvPr/>
        </p:nvSpPr>
        <p:spPr>
          <a:xfrm>
            <a:off x="6345936" y="4334256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dk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58368" y="5047488"/>
            <a:ext cx="3145536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32" name="Text 28"/>
          <p:cNvSpPr/>
          <p:nvPr/>
        </p:nvSpPr>
        <p:spPr>
          <a:xfrm>
            <a:off x="932688" y="504748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AVM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2962656" y="5175504"/>
            <a:ext cx="731520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34" name="Text 30"/>
          <p:cNvSpPr/>
          <p:nvPr/>
        </p:nvSpPr>
        <p:spPr>
          <a:xfrm>
            <a:off x="2962656" y="5175504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dk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4041648" y="5047488"/>
            <a:ext cx="3145536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4315968" y="504748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Kocaeli Üniversitesi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345936" y="5175504"/>
            <a:ext cx="731520" cy="402336"/>
          </a:xfrm>
          <a:prstGeom prst="roundRect">
            <a:avLst>
              <a:gd name="adj" fmla="val 50000"/>
            </a:avLst>
          </a:prstGeom>
          <a:solidFill>
            <a:srgbClr val="DDF7FA"/>
          </a:solidFill>
          <a:ln/>
        </p:spPr>
      </p:sp>
      <p:sp>
        <p:nvSpPr>
          <p:cNvPr id="38" name="Text 34"/>
          <p:cNvSpPr/>
          <p:nvPr/>
        </p:nvSpPr>
        <p:spPr>
          <a:xfrm>
            <a:off x="6345936" y="5175504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dk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658368" y="599846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Üniversite, hastane, AVM ve ana yollar dakikalar içinde.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5-st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896112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4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tip, 600 daire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58368" y="2103120"/>
            <a:ext cx="2542032" cy="3310128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6" name="Image 1" descr="/home/user/miaparkocean/sunum/kaynak/sekil/k-1plus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700784"/>
            <a:ext cx="1920240" cy="240487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41248" y="4224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1+0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841248" y="45720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472 adet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804672" y="4992624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Brüt 28 m²  ·  İlk ev ve yatırım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429000" y="2103120"/>
            <a:ext cx="2542032" cy="3310128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11" name="Image 2" descr="/home/user/miaparkocean/sunum/kaynak/sekil/k-1plus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896" y="1700784"/>
            <a:ext cx="1920240" cy="24048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611880" y="4224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1+1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3611880" y="45720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adet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3575304" y="4992624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Brüt 50 m²  ·  Çift ve küçük aile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6199632" y="2103120"/>
            <a:ext cx="2542032" cy="3310128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16" name="Image 3" descr="/home/user/miaparkocean/sunum/kaynak/sekil/k-lo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1700784"/>
            <a:ext cx="1920240" cy="240487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82512" y="4224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1+1 Bahçe Loft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382512" y="45720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adet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6345936" y="4992624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Brüt 50 m²  ·  Zeminde kendi bahçesi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8970264" y="2103120"/>
            <a:ext cx="2542032" cy="3310128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21" name="Image 4" descr="/home/user/miaparkocean/sunum/kaynak/sekil/k-duble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1700784"/>
            <a:ext cx="1920240" cy="24048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153144" y="4224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2+1 Bahçe Dubleks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9153144" y="457200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adet</a:t>
            </a:r>
            <a:endParaRPr lang="en-US" sz="2200" dirty="0"/>
          </a:p>
        </p:txBody>
      </p:sp>
      <p:sp>
        <p:nvSpPr>
          <p:cNvPr id="24" name="Text 17"/>
          <p:cNvSpPr/>
          <p:nvPr/>
        </p:nvSpPr>
        <p:spPr>
          <a:xfrm>
            <a:off x="9116568" y="4992624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Brüt 100 m²  ·  Bahçeli dubleks</a:t>
            </a:r>
            <a:endParaRPr lang="en-US" sz="950" dirty="0"/>
          </a:p>
        </p:txBody>
      </p:sp>
      <p:sp>
        <p:nvSpPr>
          <p:cNvPr id="25" name="Text 18"/>
          <p:cNvSpPr/>
          <p:nvPr/>
        </p:nvSpPr>
        <p:spPr>
          <a:xfrm>
            <a:off x="658368" y="5925312"/>
            <a:ext cx="10881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Stokun %79'u 1+0 — hacim orada, kampanyayı oraya kurun.  Bahçeli tipler toplam 32 adet; aciliyet argümanınız bu.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6-yas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83480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YAŞAM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4983480" y="987552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Merkezi avlu</a:t>
            </a:r>
            <a:endParaRPr lang="en-US" sz="31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çevresinde hayat</a:t>
            </a:r>
            <a:endParaRPr lang="en-US" sz="3100" dirty="0"/>
          </a:p>
        </p:txBody>
      </p:sp>
      <p:pic>
        <p:nvPicPr>
          <p:cNvPr id="5" name="Image 1" descr="/home/user/miaparkocean/sunum/kaynak/sekil/i-on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715768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367528" y="268833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Merkezi avlu</a:t>
            </a:r>
            <a:endParaRPr lang="en-US" sz="1200" dirty="0"/>
          </a:p>
        </p:txBody>
      </p:sp>
      <p:pic>
        <p:nvPicPr>
          <p:cNvPr id="7" name="Image 2" descr="/home/user/miaparkocean/sunum/kaynak/sekil/i-on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715768"/>
            <a:ext cx="274320" cy="2743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823960" y="268833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Dekoratif süs havuzları</a:t>
            </a:r>
            <a:endParaRPr lang="en-US" sz="1200" dirty="0"/>
          </a:p>
        </p:txBody>
      </p:sp>
      <p:pic>
        <p:nvPicPr>
          <p:cNvPr id="9" name="Image 3" descr="/home/user/miaparkocean/sunum/kaynak/sekil/i-on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319272"/>
            <a:ext cx="274320" cy="2743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367528" y="32918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Geniş peyzaj alanları</a:t>
            </a:r>
            <a:endParaRPr lang="en-US" sz="1200" dirty="0"/>
          </a:p>
        </p:txBody>
      </p:sp>
      <p:pic>
        <p:nvPicPr>
          <p:cNvPr id="11" name="Image 4" descr="/home/user/miaparkocean/sunum/kaynak/sekil/i-ona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2" y="3319272"/>
            <a:ext cx="274320" cy="2743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8823960" y="32918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Yürüyüş ve dinlenme yolları</a:t>
            </a:r>
            <a:endParaRPr lang="en-US" sz="1200" dirty="0"/>
          </a:p>
        </p:txBody>
      </p:sp>
      <p:pic>
        <p:nvPicPr>
          <p:cNvPr id="13" name="Image 5" descr="/home/user/miaparkocean/sunum/kaynak/sekil/i-on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922776"/>
            <a:ext cx="274320" cy="2743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367528" y="38953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Bahçeli zemin daireler</a:t>
            </a:r>
            <a:endParaRPr lang="en-US" sz="1200" dirty="0"/>
          </a:p>
        </p:txBody>
      </p:sp>
      <p:pic>
        <p:nvPicPr>
          <p:cNvPr id="15" name="Image 6" descr="/home/user/miaparkocean/sunum/kaynak/sekil/i-on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9912" y="3922776"/>
            <a:ext cx="274320" cy="27432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8823960" y="38953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 gece aydınlatması</a:t>
            </a:r>
            <a:endParaRPr lang="en-US" sz="1200" dirty="0"/>
          </a:p>
        </p:txBody>
      </p:sp>
      <p:pic>
        <p:nvPicPr>
          <p:cNvPr id="17" name="Image 7" descr="/home/user/miaparkocean/sunum/kaynak/sekil/i-on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4526280"/>
            <a:ext cx="274320" cy="274320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5367528" y="44988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Kapalı otopark</a:t>
            </a:r>
            <a:endParaRPr lang="en-US" sz="1200" dirty="0"/>
          </a:p>
        </p:txBody>
      </p:sp>
      <p:pic>
        <p:nvPicPr>
          <p:cNvPr id="19" name="Image 8" descr="/home/user/miaparkocean/sunum/kaynak/sekil/i-ona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526280"/>
            <a:ext cx="274320" cy="274320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8823960" y="449884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7/24 güvenlik</a:t>
            </a:r>
            <a:endParaRPr lang="en-US" sz="1200" dirty="0"/>
          </a:p>
        </p:txBody>
      </p:sp>
      <p:sp>
        <p:nvSpPr>
          <p:cNvPr id="21" name="Shape 10"/>
          <p:cNvSpPr/>
          <p:nvPr/>
        </p:nvSpPr>
        <p:spPr>
          <a:xfrm>
            <a:off x="4983480" y="5358384"/>
            <a:ext cx="6547104" cy="859536"/>
          </a:xfrm>
          <a:prstGeom prst="roundRect">
            <a:avLst>
              <a:gd name="adj" fmla="val 14894"/>
            </a:avLst>
          </a:prstGeom>
          <a:solidFill>
            <a:srgbClr val="DDF7FA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22" name="Image 9" descr="/home/user/miaparkocean/sunum/kaynak/sekil/i-kalka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368" y="5568696"/>
            <a:ext cx="438912" cy="438912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5815584" y="5358384"/>
            <a:ext cx="5486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Avludaki su SÜS havuzudur — yüzme havuzu diye anlatmayın.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7-ode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ÖDEME MODELİ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987552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Banka yok.</a:t>
            </a:r>
            <a:endParaRPr lang="en-US" sz="36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Faiz yok. Kefil yok.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58368" y="2798064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7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%0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58368" y="36210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Faiz / vade farkı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615184" y="2798064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7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2615184" y="36210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 sabit taksit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572000" y="2798064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7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4572000" y="362102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ödeme</a:t>
            </a:r>
            <a:endParaRPr lang="en-US" sz="1050" dirty="0"/>
          </a:p>
        </p:txBody>
      </p:sp>
      <p:pic>
        <p:nvPicPr>
          <p:cNvPr id="11" name="Image 1" descr="/home/user/miaparkocean/sunum/kaynak/sekil/i-on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315968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24128" y="427939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Tasarrufa dayalı finansman — </a:t>
            </a:r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Tasarruf esaslı, faizsiz model. Bankaya ve kefile gerek yok.</a:t>
            </a:r>
            <a:endParaRPr lang="en-US" sz="1050" dirty="0"/>
          </a:p>
        </p:txBody>
      </p:sp>
      <p:pic>
        <p:nvPicPr>
          <p:cNvPr id="13" name="Image 2" descr="/home/user/miaparkocean/sunum/kaynak/sekil/i-on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88289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48463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taksit — </a:t>
            </a:r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 belirlenen taksit 60 ay aynı kalır. Balon taksit yok.</a:t>
            </a:r>
            <a:endParaRPr lang="en-US" sz="1050" dirty="0"/>
          </a:p>
        </p:txBody>
      </p:sp>
      <p:pic>
        <p:nvPicPr>
          <p:cNvPr id="15" name="Image 3" descr="/home/user/miaparkocean/sunum/kaynak/sekil/i-on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44982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24128" y="541324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Enflasyon avantajı — </a:t>
            </a:r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Taksit sabit kaldığı için ödemenin gerçek yükü ay ay hafifler.</a:t>
            </a:r>
            <a:endParaRPr lang="en-US" sz="1050" dirty="0"/>
          </a:p>
        </p:txBody>
      </p:sp>
      <p:pic>
        <p:nvPicPr>
          <p:cNvPr id="17" name="Image 4" descr="/home/user/miaparkocean/sunum/kaynak/sekil/i-ona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6016752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24128" y="598017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Üye maliyetine konut — </a:t>
            </a:r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Kooperatif kâr amacı gütmez; araya müteahhit kârı girmez.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8-yatir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YATIRIM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987552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MİA Bölgesi'nde m² değeri</a:t>
            </a:r>
            <a:endParaRPr lang="en-US" sz="3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12064" y="1920240"/>
          <a:ext cx="7589520" cy="31455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658368" y="5175504"/>
            <a:ext cx="2267712" cy="950976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859536" y="5285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89.000 ₺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859536" y="56875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bugünkü m² fiyatı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127248" y="5175504"/>
            <a:ext cx="2267712" cy="950976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3328416" y="5285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%25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3328416" y="56875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yıllık öngörü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596128" y="5175504"/>
            <a:ext cx="2267712" cy="950976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797296" y="5285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5797296" y="56875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 yılda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62727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 yıllık projeksiyon %25 yıllık artış varsayımına dayalı bir ÖNGÖRÜDÜR; değer taahhüdü değildir.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09-guv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41648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GÜVENCE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4041648" y="987552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Kooperatif devlet</a:t>
            </a:r>
            <a:endParaRPr lang="en-US" sz="31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denetiminde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4041648" y="2706624"/>
            <a:ext cx="3675888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279392" y="2907792"/>
            <a:ext cx="457200" cy="457200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7" name="Text 4"/>
          <p:cNvSpPr/>
          <p:nvPr/>
        </p:nvSpPr>
        <p:spPr>
          <a:xfrm>
            <a:off x="4279392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46320" y="29260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1163 sayılı Kanun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279392" y="345643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Kuruluştan tasfiyeye kadar her şey 1969'dan beri yürürlükteki kanunla tanımlı.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973568" y="2706624"/>
            <a:ext cx="3675888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11312" y="2907792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2" name="Text 9"/>
          <p:cNvSpPr/>
          <p:nvPr/>
        </p:nvSpPr>
        <p:spPr>
          <a:xfrm>
            <a:off x="8211312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778240" y="292608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e-Devlet / KOOPBİS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211312" y="345643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sözleşme, genel kurul kararları ve ortaklık kaydı e-Devlet'ten görülebilir.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041648" y="4443984"/>
            <a:ext cx="3675888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279392" y="4645152"/>
            <a:ext cx="457200" cy="457200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17" name="Text 14"/>
          <p:cNvSpPr/>
          <p:nvPr/>
        </p:nvSpPr>
        <p:spPr>
          <a:xfrm>
            <a:off x="4279392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846320" y="466344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Bakanlık temsilcisi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279392" y="519379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kurul, Bakanlık tarafından görevlendirilen temsilci gözetiminde yapılır.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973568" y="4443984"/>
            <a:ext cx="3675888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211312" y="4645152"/>
            <a:ext cx="457200" cy="457200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2" name="Text 19"/>
          <p:cNvSpPr/>
          <p:nvPr/>
        </p:nvSpPr>
        <p:spPr>
          <a:xfrm>
            <a:off x="8211312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778240" y="4663440"/>
            <a:ext cx="2688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katmanlı denetim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8211312" y="519379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İçeride ortakların denetim organı, dışarıda bağımsız dış denetim ve Bakanlık.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617720" y="627278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bilgilendirmedir; güncel mevzuat ve kooperatif ana sözleşmesi esastır.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10-itir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SAHA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987552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itiraz, dört cevap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58368" y="2212848"/>
            <a:ext cx="7534656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48ABC5">
                <a:alpha val="60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" y="2450592"/>
            <a:ext cx="438912" cy="438912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24505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44752" y="228600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“Kooperatif riskli.”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44752" y="2633472"/>
            <a:ext cx="6528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1163 sayılı Kanun kapsamında, KOOPBİS'ten izlenebilir, genel kurulu Bakanlık temsilcisi gözetiminde.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58368" y="3273552"/>
            <a:ext cx="7534656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48ABC5">
                <a:alpha val="6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511296"/>
            <a:ext cx="438912" cy="438912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12" name="Text 9"/>
          <p:cNvSpPr/>
          <p:nvPr/>
        </p:nvSpPr>
        <p:spPr>
          <a:xfrm>
            <a:off x="877824" y="35112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44752" y="3346704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“Kredim çıkmıyor.”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444752" y="3694176"/>
            <a:ext cx="6528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Zaten bankaya gitmiyoruz. Ne kredi, ne faiz, ne kefil.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" y="4334256"/>
            <a:ext cx="7534656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48ABC5">
                <a:alpha val="6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7824" y="4572000"/>
            <a:ext cx="438912" cy="438912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17" name="Text 14"/>
          <p:cNvSpPr/>
          <p:nvPr/>
        </p:nvSpPr>
        <p:spPr>
          <a:xfrm>
            <a:off x="877824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44752" y="440740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“Taksit sonradan artar mı?”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444752" y="4754880"/>
            <a:ext cx="6528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Hayır. Bugün belirlenen taksit 60 ay sabit; ara ödeme ve balon taksit yok.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58368" y="5394960"/>
            <a:ext cx="7534656" cy="914400"/>
          </a:xfrm>
          <a:prstGeom prst="roundRect">
            <a:avLst>
              <a:gd name="adj" fmla="val 14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48ABC5">
                <a:alpha val="6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7824" y="5632704"/>
            <a:ext cx="438912" cy="438912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2" name="Text 19"/>
          <p:cNvSpPr/>
          <p:nvPr/>
        </p:nvSpPr>
        <p:spPr>
          <a:xfrm>
            <a:off x="877824" y="56327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444752" y="5468112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“Tapuyu ne zaman alırım?”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444752" y="5815584"/>
            <a:ext cx="6528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İnşaat tamamlandıktan sonra ferdileşme ile daire adınıza tapuya bağlanır.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11-k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KİTLE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877824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getireceksiniz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658368" y="2487168"/>
            <a:ext cx="2542032" cy="2889504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6" name="Image 1" descr="/home/user/miaparkocean/sunum/kaynak/sekil/d-study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1810512"/>
            <a:ext cx="1371600" cy="1371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04672" y="336499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evini alan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841248" y="3785616"/>
            <a:ext cx="21762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Peşinatı olan, kredisi çıkmayan genç alıcı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877824" y="4718304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F2704B"/>
          </a:solidFill>
          <a:ln/>
        </p:spPr>
      </p:sp>
      <p:sp>
        <p:nvSpPr>
          <p:cNvPr id="10" name="Text 6"/>
          <p:cNvSpPr/>
          <p:nvPr/>
        </p:nvSpPr>
        <p:spPr>
          <a:xfrm>
            <a:off x="877824" y="471830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1+0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429000" y="2487168"/>
            <a:ext cx="2542032" cy="2889504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12" name="Image 2" descr="/home/user/miaparkocean/sunum/kaynak/sekil/d-sal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4216" y="1810512"/>
            <a:ext cx="1371600" cy="1371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75304" y="336499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Yatırımcı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611880" y="3785616"/>
            <a:ext cx="21762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Kiralamak ve değerlenme bekleyen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3648456" y="4718304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789C7"/>
          </a:solidFill>
          <a:ln/>
        </p:spPr>
      </p:sp>
      <p:sp>
        <p:nvSpPr>
          <p:cNvPr id="16" name="Text 11"/>
          <p:cNvSpPr/>
          <p:nvPr/>
        </p:nvSpPr>
        <p:spPr>
          <a:xfrm>
            <a:off x="3648456" y="471830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1+0 · 1+1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199632" y="2487168"/>
            <a:ext cx="2542032" cy="2889504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18" name="Image 3" descr="/home/user/miaparkocean/sunum/kaynak/sekil/d-ter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1810512"/>
            <a:ext cx="1371600" cy="1371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45936" y="336499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 aile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382512" y="3785616"/>
            <a:ext cx="21762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ya da tek çocuklu aile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419088" y="4718304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F2704B"/>
          </a:solidFill>
          <a:ln/>
        </p:spPr>
      </p:sp>
      <p:sp>
        <p:nvSpPr>
          <p:cNvPr id="22" name="Text 16"/>
          <p:cNvSpPr/>
          <p:nvPr/>
        </p:nvSpPr>
        <p:spPr>
          <a:xfrm>
            <a:off x="6419088" y="471830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1+1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8970264" y="2487168"/>
            <a:ext cx="2542032" cy="2889504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24" name="Image 4" descr="/home/user/miaparkocean/sunum/kaynak/sekil/d-duble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1810512"/>
            <a:ext cx="1371600" cy="1371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116568" y="336499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Bahçe isteyen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9153144" y="3785616"/>
            <a:ext cx="21762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Apartmanda müstakil ev hissi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9189720" y="4718304"/>
            <a:ext cx="2103120" cy="438912"/>
          </a:xfrm>
          <a:prstGeom prst="roundRect">
            <a:avLst>
              <a:gd name="adj" fmla="val 50000"/>
            </a:avLst>
          </a:prstGeom>
          <a:solidFill>
            <a:srgbClr val="1789C7"/>
          </a:solidFill>
          <a:ln/>
        </p:spPr>
      </p:sp>
      <p:sp>
        <p:nvSpPr>
          <p:cNvPr id="28" name="Text 21"/>
          <p:cNvSpPr/>
          <p:nvPr/>
        </p:nvSpPr>
        <p:spPr>
          <a:xfrm>
            <a:off x="9189720" y="471830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Bahçe Loft · Dubleks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658368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Portföyünüzdeki kredisi çıkmayan müşteriler bu projenin asıl hedefi. Reddedilen kredi başvurusu burada satışa dönüyor.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12-deste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SATIŞ DESTEĞİ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987552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3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Elinize ne veriyoruz</a:t>
            </a:r>
            <a:endParaRPr lang="en-US" sz="3300" dirty="0"/>
          </a:p>
        </p:txBody>
      </p:sp>
      <p:pic>
        <p:nvPicPr>
          <p:cNvPr id="5" name="Image 1" descr="/home/user/miaparkocean/sunum/kaynak/sekil/m-bilbo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83664"/>
            <a:ext cx="3017520" cy="1874520"/>
          </a:xfrm>
          <a:prstGeom prst="rect">
            <a:avLst/>
          </a:prstGeom>
        </p:spPr>
      </p:pic>
      <p:pic>
        <p:nvPicPr>
          <p:cNvPr id="6" name="Image 2" descr="/home/user/miaparkocean/sunum/kaynak/sekil/m-bilbord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50208"/>
            <a:ext cx="3017520" cy="1874520"/>
          </a:xfrm>
          <a:prstGeom prst="rect">
            <a:avLst/>
          </a:prstGeom>
        </p:spPr>
      </p:pic>
      <p:pic>
        <p:nvPicPr>
          <p:cNvPr id="7" name="Image 3" descr="/home/user/miaparkocean/sunum/kaynak/sekil/m-ars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344" y="4553712"/>
            <a:ext cx="1883664" cy="1298448"/>
          </a:xfrm>
          <a:prstGeom prst="rect">
            <a:avLst/>
          </a:prstGeom>
        </p:spPr>
      </p:pic>
      <p:pic>
        <p:nvPicPr>
          <p:cNvPr id="8" name="Image 4" descr="/home/user/miaparkocean/sunum/kaynak/sekil/m-roll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5344" y="1883664"/>
            <a:ext cx="1298448" cy="2551176"/>
          </a:xfrm>
          <a:prstGeom prst="rect">
            <a:avLst/>
          </a:prstGeom>
        </p:spPr>
      </p:pic>
      <p:pic>
        <p:nvPicPr>
          <p:cNvPr id="9" name="Image 5" descr="/home/user/miaparkocean/sunum/kaynak/sekil/m-katalo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8384" y="1883664"/>
            <a:ext cx="1792224" cy="2551176"/>
          </a:xfrm>
          <a:prstGeom prst="rect">
            <a:avLst/>
          </a:prstGeom>
        </p:spPr>
      </p:pic>
      <p:pic>
        <p:nvPicPr>
          <p:cNvPr id="10" name="Image 6" descr="/home/user/miaparkocean/sunum/kaynak/sekil/m-yak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4553712"/>
            <a:ext cx="914400" cy="1298448"/>
          </a:xfrm>
          <a:prstGeom prst="rect">
            <a:avLst/>
          </a:prstGeom>
        </p:spPr>
      </p:pic>
      <p:pic>
        <p:nvPicPr>
          <p:cNvPr id="11" name="Image 7" descr="/home/user/miaparkocean/sunum/kaynak/sekil/i-on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6096" y="2002536"/>
            <a:ext cx="256032" cy="256032"/>
          </a:xfrm>
          <a:prstGeom prst="rect">
            <a:avLst/>
          </a:prstGeom>
        </p:spPr>
      </p:pic>
      <p:sp>
        <p:nvSpPr>
          <p:cNvPr id="12" name="Text 2"/>
          <p:cNvSpPr/>
          <p:nvPr/>
        </p:nvSpPr>
        <p:spPr>
          <a:xfrm>
            <a:off x="7973568" y="19751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bilbord tasarımı</a:t>
            </a:r>
            <a:endParaRPr lang="en-US" sz="1100" dirty="0"/>
          </a:p>
        </p:txBody>
      </p:sp>
      <p:pic>
        <p:nvPicPr>
          <p:cNvPr id="13" name="Image 8" descr="/home/user/miaparkocean/sunum/kaynak/sekil/i-ona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38944" y="2002536"/>
            <a:ext cx="256032" cy="256032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0186416" y="19751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arsa panosu</a:t>
            </a:r>
            <a:endParaRPr lang="en-US" sz="1100" dirty="0"/>
          </a:p>
        </p:txBody>
      </p:sp>
      <p:pic>
        <p:nvPicPr>
          <p:cNvPr id="15" name="Image 9" descr="/home/user/miaparkocean/sunum/kaynak/sekil/i-ona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6096" y="2624328"/>
            <a:ext cx="256032" cy="256032"/>
          </a:xfrm>
          <a:prstGeom prst="rect">
            <a:avLst/>
          </a:prstGeom>
        </p:spPr>
      </p:pic>
      <p:sp>
        <p:nvSpPr>
          <p:cNvPr id="16" name="Text 4"/>
          <p:cNvSpPr/>
          <p:nvPr/>
        </p:nvSpPr>
        <p:spPr>
          <a:xfrm>
            <a:off x="7973568" y="25968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Roll-up ve totem</a:t>
            </a:r>
            <a:endParaRPr lang="en-US" sz="1100" dirty="0"/>
          </a:p>
        </p:txBody>
      </p:sp>
      <p:pic>
        <p:nvPicPr>
          <p:cNvPr id="17" name="Image 10" descr="/home/user/miaparkocean/sunum/kaynak/sekil/i-ona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8944" y="2624328"/>
            <a:ext cx="256032" cy="256032"/>
          </a:xfrm>
          <a:prstGeom prst="rect">
            <a:avLst/>
          </a:prstGeom>
        </p:spPr>
      </p:pic>
      <p:sp>
        <p:nvSpPr>
          <p:cNvPr id="18" name="Text 5"/>
          <p:cNvSpPr/>
          <p:nvPr/>
        </p:nvSpPr>
        <p:spPr>
          <a:xfrm>
            <a:off x="10186416" y="25968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Yaka kartları</a:t>
            </a:r>
            <a:endParaRPr lang="en-US" sz="1100" dirty="0"/>
          </a:p>
        </p:txBody>
      </p:sp>
      <p:pic>
        <p:nvPicPr>
          <p:cNvPr id="19" name="Image 11" descr="/home/user/miaparkocean/sunum/kaynak/sekil/i-ona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6096" y="3246120"/>
            <a:ext cx="256032" cy="256032"/>
          </a:xfrm>
          <a:prstGeom prst="rect">
            <a:avLst/>
          </a:prstGeom>
        </p:spPr>
      </p:pic>
      <p:sp>
        <p:nvSpPr>
          <p:cNvPr id="20" name="Text 6"/>
          <p:cNvSpPr/>
          <p:nvPr/>
        </p:nvSpPr>
        <p:spPr>
          <a:xfrm>
            <a:off x="7973568" y="32186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katalog</a:t>
            </a:r>
            <a:endParaRPr lang="en-US" sz="1100" dirty="0"/>
          </a:p>
        </p:txBody>
      </p:sp>
      <p:pic>
        <p:nvPicPr>
          <p:cNvPr id="21" name="Image 12" descr="/home/user/miaparkocean/sunum/kaynak/sekil/i-ona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38944" y="3246120"/>
            <a:ext cx="256032" cy="256032"/>
          </a:xfrm>
          <a:prstGeom prst="rect">
            <a:avLst/>
          </a:prstGeom>
        </p:spPr>
      </p:pic>
      <p:sp>
        <p:nvSpPr>
          <p:cNvPr id="22" name="Text 7"/>
          <p:cNvSpPr/>
          <p:nvPr/>
        </p:nvSpPr>
        <p:spPr>
          <a:xfrm>
            <a:off x="10186416" y="32186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miaparkocean.com</a:t>
            </a:r>
            <a:endParaRPr lang="en-US" sz="1100" dirty="0"/>
          </a:p>
        </p:txBody>
      </p:sp>
      <p:pic>
        <p:nvPicPr>
          <p:cNvPr id="23" name="Image 13" descr="/home/user/miaparkocean/sunum/kaynak/sekil/i-ona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6096" y="3867912"/>
            <a:ext cx="256032" cy="256032"/>
          </a:xfrm>
          <a:prstGeom prst="rect">
            <a:avLst/>
          </a:prstGeom>
        </p:spPr>
      </p:pic>
      <p:sp>
        <p:nvSpPr>
          <p:cNvPr id="24" name="Text 8"/>
          <p:cNvSpPr/>
          <p:nvPr/>
        </p:nvSpPr>
        <p:spPr>
          <a:xfrm>
            <a:off x="7973568" y="38404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Sosyal medya seti</a:t>
            </a:r>
            <a:endParaRPr lang="en-US" sz="1100" dirty="0"/>
          </a:p>
        </p:txBody>
      </p:sp>
      <p:pic>
        <p:nvPicPr>
          <p:cNvPr id="25" name="Image 14" descr="/home/user/miaparkocean/sunum/kaynak/sekil/i-onay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38944" y="3867912"/>
            <a:ext cx="256032" cy="256032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0186416" y="38404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Tanıtım filmi</a:t>
            </a:r>
            <a:endParaRPr lang="en-US" sz="1100" dirty="0"/>
          </a:p>
        </p:txBody>
      </p:sp>
      <p:sp>
        <p:nvSpPr>
          <p:cNvPr id="27" name="Shape 10"/>
          <p:cNvSpPr/>
          <p:nvPr/>
        </p:nvSpPr>
        <p:spPr>
          <a:xfrm>
            <a:off x="7626096" y="4626864"/>
            <a:ext cx="4224528" cy="1225296"/>
          </a:xfrm>
          <a:prstGeom prst="roundRect">
            <a:avLst>
              <a:gd name="adj" fmla="val 10448"/>
            </a:avLst>
          </a:prstGeom>
          <a:solidFill>
            <a:srgbClr val="DDF7FA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8" name="Text 11"/>
          <p:cNvSpPr/>
          <p:nvPr/>
        </p:nvSpPr>
        <p:spPr>
          <a:xfrm>
            <a:off x="7882128" y="4626864"/>
            <a:ext cx="37490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 baskıya hazır dosya olarak paylaşılır. Bugün en az katalog ve site linki elinizde olsun.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13-isbirli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178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 BİRLİĞİ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987552"/>
            <a:ext cx="6400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3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Nasıl çalışıyoruz</a:t>
            </a:r>
            <a:endParaRPr lang="en-US" sz="3300" dirty="0"/>
          </a:p>
        </p:txBody>
      </p:sp>
      <p:sp>
        <p:nvSpPr>
          <p:cNvPr id="5" name="Shape 2"/>
          <p:cNvSpPr/>
          <p:nvPr/>
        </p:nvSpPr>
        <p:spPr>
          <a:xfrm>
            <a:off x="658368" y="1883664"/>
            <a:ext cx="6784848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1984248"/>
            <a:ext cx="402336" cy="402336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408176" y="1883664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675888" y="188366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Emlakçı kaydı ve yetki belgesi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58368" y="2615184"/>
            <a:ext cx="6784848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2715768"/>
            <a:ext cx="402336" cy="402336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715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408176" y="2615184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bildirimi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3675888" y="261518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ofise gelmeden bildirilir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" y="3346704"/>
            <a:ext cx="6784848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1248" y="3447288"/>
            <a:ext cx="402336" cy="402336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3447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408176" y="3346704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Görüşme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675888" y="33467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ofisinde birlikte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58368" y="4078224"/>
            <a:ext cx="6784848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1248" y="4178808"/>
            <a:ext cx="402336" cy="402336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2" name="Text 19"/>
          <p:cNvSpPr/>
          <p:nvPr/>
        </p:nvSpPr>
        <p:spPr>
          <a:xfrm>
            <a:off x="841248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408176" y="4078224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Sözleşme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3675888" y="407822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Ortaklık işlemleri ve peşinat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58368" y="4809744"/>
            <a:ext cx="6784848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41248" y="4910328"/>
            <a:ext cx="402336" cy="402336"/>
          </a:xfrm>
          <a:prstGeom prst="ellipse">
            <a:avLst/>
          </a:prstGeom>
          <a:solidFill>
            <a:srgbClr val="075878"/>
          </a:solidFill>
          <a:ln/>
        </p:spPr>
      </p:sp>
      <p:sp>
        <p:nvSpPr>
          <p:cNvPr id="27" name="Text 24"/>
          <p:cNvSpPr/>
          <p:nvPr/>
        </p:nvSpPr>
        <p:spPr>
          <a:xfrm>
            <a:off x="841248" y="4910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408176" y="4809744"/>
            <a:ext cx="22128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Hakediş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3675888" y="480974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Komisyon ödemesi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58368" y="5577840"/>
            <a:ext cx="6784848" cy="969264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 w="19050">
            <a:solidFill>
              <a:srgbClr val="F2704B"/>
            </a:solidFill>
            <a:prstDash val="solid"/>
          </a:ln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932688" y="568756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27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SUNUMDAN ÖNCE DOLDURULACAK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32688" y="599846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Komisyon oranı  ______     Hakediş zamanı  ______     Müşteri koruma süresi  ______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14-sur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583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MÜŞTERİ SÜRECİ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58368" y="987552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Peşinattan tapuya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58368" y="2212848"/>
            <a:ext cx="729691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48ABC5">
                <a:alpha val="60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" y="2441448"/>
            <a:ext cx="438912" cy="438912"/>
          </a:xfrm>
          <a:prstGeom prst="ellipse">
            <a:avLst/>
          </a:prstGeom>
          <a:solidFill>
            <a:srgbClr val="F2704B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24414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44752" y="2212848"/>
            <a:ext cx="2011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Peşinat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493008" y="2212848"/>
            <a:ext cx="43159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Avantajlı peşinatla başlar, kalan tutar 60 aya kadar taksitlenir.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58368" y="3255264"/>
            <a:ext cx="729691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48ABC5">
                <a:alpha val="6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3483864"/>
            <a:ext cx="438912" cy="438912"/>
          </a:xfrm>
          <a:prstGeom prst="ellipse">
            <a:avLst/>
          </a:prstGeom>
          <a:solidFill>
            <a:srgbClr val="F2704B"/>
          </a:solidFill>
          <a:ln/>
        </p:spPr>
      </p:sp>
      <p:sp>
        <p:nvSpPr>
          <p:cNvPr id="12" name="Text 9"/>
          <p:cNvSpPr/>
          <p:nvPr/>
        </p:nvSpPr>
        <p:spPr>
          <a:xfrm>
            <a:off x="877824" y="3483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44752" y="3255264"/>
            <a:ext cx="2011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ay taksit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3493008" y="3255264"/>
            <a:ext cx="43159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Faiz yok, kefil yok, banka yok. Sabit taksit, ara ödeme yok.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" y="4297680"/>
            <a:ext cx="729691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48ABC5">
                <a:alpha val="60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7824" y="4526280"/>
            <a:ext cx="438912" cy="438912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17" name="Text 14"/>
          <p:cNvSpPr/>
          <p:nvPr/>
        </p:nvSpPr>
        <p:spPr>
          <a:xfrm>
            <a:off x="877824" y="4526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44752" y="4297680"/>
            <a:ext cx="2011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İnşaat ve takip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493008" y="4297680"/>
            <a:ext cx="43159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Ödemeler ve inşaat aşamaları KOOPBİS ve ilerleme panelinden izlenir.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58368" y="5340096"/>
            <a:ext cx="729691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48ABC5">
                <a:alpha val="6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7824" y="5568696"/>
            <a:ext cx="438912" cy="438912"/>
          </a:xfrm>
          <a:prstGeom prst="ellipse">
            <a:avLst/>
          </a:prstGeom>
          <a:solidFill>
            <a:srgbClr val="1789C7"/>
          </a:solidFill>
          <a:ln/>
        </p:spPr>
      </p:sp>
      <p:sp>
        <p:nvSpPr>
          <p:cNvPr id="22" name="Text 19"/>
          <p:cNvSpPr/>
          <p:nvPr/>
        </p:nvSpPr>
        <p:spPr>
          <a:xfrm>
            <a:off x="877824" y="55686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444752" y="5340096"/>
            <a:ext cx="20116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Tapu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3493008" y="5340096"/>
            <a:ext cx="43159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İnşaat bitince ferdileşme ile daire adına tapuya bağlanır.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58368" y="6400800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8AB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Tapu sorusu mutlaka gelir: ferdileşme, inşaat bitiminde.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sekil/bg-15-kapan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iaparkocean/public/brand/logo-ocean-t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75488"/>
            <a:ext cx="2194560" cy="15179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237744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38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Yarın sabah ilk</a:t>
            </a:r>
            <a:endParaRPr lang="en-US" sz="38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380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müşterinizi getirin.</a:t>
            </a:r>
            <a:endParaRPr lang="en-US" sz="3800" dirty="0"/>
          </a:p>
        </p:txBody>
      </p:sp>
      <p:sp>
        <p:nvSpPr>
          <p:cNvPr id="5" name="Text 1"/>
          <p:cNvSpPr/>
          <p:nvPr/>
        </p:nvSpPr>
        <p:spPr>
          <a:xfrm>
            <a:off x="658368" y="3986784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75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Satış ofisimiz her gün açık. Kahvemizi içmeye bekleriz.</a:t>
            </a:r>
            <a:endParaRPr lang="en-US" sz="1350" dirty="0"/>
          </a:p>
        </p:txBody>
      </p:sp>
      <p:pic>
        <p:nvPicPr>
          <p:cNvPr id="6" name="Image 2" descr="/home/user/miaparkocean/sunum/kaynak/sekil/i-telef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517136"/>
            <a:ext cx="402336" cy="402336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207008" y="4517136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0540 028 00 41  ·  0541 128 40 41</a:t>
            </a:r>
            <a:endParaRPr lang="en-US" sz="1250" dirty="0"/>
          </a:p>
        </p:txBody>
      </p:sp>
      <p:pic>
        <p:nvPicPr>
          <p:cNvPr id="8" name="Image 3" descr="/home/user/miaparkocean/sunum/kaynak/sekil/i-we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084064"/>
            <a:ext cx="402336" cy="402336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207008" y="5084064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miaparkocean.com</a:t>
            </a:r>
            <a:endParaRPr lang="en-US" sz="1250" dirty="0"/>
          </a:p>
        </p:txBody>
      </p:sp>
      <p:pic>
        <p:nvPicPr>
          <p:cNvPr id="10" name="Image 4" descr="/home/user/miaparkocean/sunum/kaynak/sekil/i-instagr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650992"/>
            <a:ext cx="402336" cy="402336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7008" y="5650992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@miaparkocean</a:t>
            </a:r>
            <a:endParaRPr lang="en-US" sz="1250" dirty="0"/>
          </a:p>
        </p:txBody>
      </p:sp>
      <p:sp>
        <p:nvSpPr>
          <p:cNvPr id="12" name="Text 5"/>
          <p:cNvSpPr/>
          <p:nvPr/>
        </p:nvSpPr>
        <p:spPr>
          <a:xfrm>
            <a:off x="658368" y="627278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GAYRİMENKUL  ·  Tek Yetkili Satıcı</a:t>
            </a:r>
            <a:endParaRPr lang="en-US" sz="1000" dirty="0"/>
          </a:p>
        </p:txBody>
      </p:sp>
      <p:sp>
        <p:nvSpPr>
          <p:cNvPr id="13" name="Shape 6"/>
          <p:cNvSpPr/>
          <p:nvPr/>
        </p:nvSpPr>
        <p:spPr>
          <a:xfrm>
            <a:off x="8613648" y="2395728"/>
            <a:ext cx="2798064" cy="2798064"/>
          </a:xfrm>
          <a:prstGeom prst="roundRect">
            <a:avLst>
              <a:gd name="adj" fmla="val 45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04283A">
                <a:alpha val="14000"/>
              </a:srgbClr>
            </a:outerShdw>
          </a:effectLst>
        </p:spPr>
      </p:sp>
      <p:pic>
        <p:nvPicPr>
          <p:cNvPr id="14" name="Image 5" descr="/home/user/miaparkocean/sunum/kaynak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2651760"/>
            <a:ext cx="2286000" cy="228600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8613648" y="5376672"/>
            <a:ext cx="2798064" cy="457200"/>
          </a:xfrm>
          <a:prstGeom prst="roundRect">
            <a:avLst>
              <a:gd name="adj" fmla="val 50000"/>
            </a:avLst>
          </a:prstGeom>
          <a:solidFill>
            <a:srgbClr val="1789C7"/>
          </a:solidFill>
          <a:ln/>
        </p:spPr>
      </p:sp>
      <p:sp>
        <p:nvSpPr>
          <p:cNvPr id="16" name="Text 8"/>
          <p:cNvSpPr/>
          <p:nvPr/>
        </p:nvSpPr>
        <p:spPr>
          <a:xfrm>
            <a:off x="8613648" y="537667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Projeyi telefonunuzda açın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MİA PARK OCEAN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MİA PARK OCEAN — Lansman Sunumu</dc:title>
  <dc:subject>PptxGenJS Presentation</dc:subject>
  <dc:creator>Ocean Gayrimenkul</dc:creator>
  <cp:lastModifiedBy>Ocean Gayrimenkul</cp:lastModifiedBy>
  <cp:revision>1</cp:revision>
  <dcterms:created xsi:type="dcterms:W3CDTF">2026-08-20T15:39:02Z</dcterms:created>
  <dcterms:modified xsi:type="dcterms:W3CDTF">2026-08-20T15:39:02Z</dcterms:modified>
</cp:coreProperties>
</file>