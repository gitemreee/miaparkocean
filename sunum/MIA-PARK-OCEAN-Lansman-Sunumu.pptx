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C75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5B6C75"/>
                </a:solidFill>
                <a:latin typeface="Calibri"/>
              </a:rPr>
              <a:t>Yıllık %25 artış varsayımıyla beş yıllık projeksiyon (₺/m²)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₺/m²</c:v>
                </c:pt>
              </c:strCache>
            </c:strRef>
          </c:tx>
          <c:spPr>
            <a:solidFill>
              <a:srgbClr val="0758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0428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89000</c:v>
                </c:pt>
                <c:pt idx="1">
                  <c:v>111250</c:v>
                </c:pt>
                <c:pt idx="2">
                  <c:v>139063</c:v>
                </c:pt>
                <c:pt idx="3">
                  <c:v>173828</c:v>
                </c:pt>
                <c:pt idx="4">
                  <c:v>217285</c:v>
                </c:pt>
                <c:pt idx="5">
                  <c:v>271606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0428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3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Kendinizi ve kooperatifi tanıtın. Bu sunum 20 dakika, sonrasında soru-cevap. Bugünün amacı: MİA PARK OCEAN'ı satabilecek kadar iyi anlatmak.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Gündemi hızlı geçin. Vurgu: 3. ve 6. başlık — ödeme modeli ve iş birliği. Emlakçının bu iki başlığı anlaması satışın tamamı.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600 rakamını vurgulayın: bu ölçek, emlakçı için sürekli stok demek. Dört tip olması her müşteri profiline bir cevabınız olduğu anlamına geliyor.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Mesafeleri ezberleyin. En çok sorulan: D100 ve şehir hastanesi. İzmit Sahili süresi teyide açık, kesin konuşmayın.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472 adet 1+0 — hacim burada. 16'şar adetlik bahçeli tipler kıt, gerçekten sınırlı; 'sınırlı sayıda' derken bunu kastedin.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ÖNEMLİ: Süs havuzu ile yüzme havuzunu karıştırmayın. Müşteriye yüzme havuzu sözü verilirse teslimde sorun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kalbi bu slayt. Emlakçı buradan tek cümle götürsün: 'Bankaya gitmeden, faiz ödemeden, kefil bulmadan ev.' Kredi çıkmayan müşteri sizin müşteriniz.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Rakamı verirken 'öngörü' kelimesini mutlaka kullanın. Taahhüt gibi anlatılırsa hem etik hem hukuki sorun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Emlakçının en çok takıldığı yer burası. 'Kooperatif riskli mi?' sorusuna dört maddeyle cevap verin. KOOPBİS'i telefonda canlı gösterin, en ikna edici hamle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slaydı fotoğraflatın. Sahada en çok gelen dört itiraz ve cevapları. Cevapları ezberden değil, kendi cümlelerinizle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Portföyünüzdeki kredisi çıkmayan müşterileri hatırlayın — bu projenin asıl hedefi onlar. Reddedilen kredi başvurusu burada satışa dönüyor.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olun: hangi dosyayı ne zaman göndereceğinizi söyleyin. Emlakçı eli boş dönmesin — bugün en az katalog ve site linkini verin.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DİKKAT: Komisyon oranı, hakediş zamanı ve müşteri koruma süresi bu sunumda boş bırakıldı — bu üç rakamı sunumdan önce siz doldurun. Emlakçının en çok merak ettiği slayt bu; boş kalırsa güven kaybı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Süreci dört adımda anlatın. Tapu sorusu mutlaka gelir; ferdileşme kelimesini kullanın ve inşaat bitiminde olduğunu net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Kapanış: net bir çağrı yapın. Kayıt formunu masalara dağıtın, bugün kaydolan emlakçıya katalog ve görsel setini akşam gönderin.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ge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4283A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200400"/>
            <a:ext cx="12161520" cy="3657600"/>
          </a:xfrm>
          <a:prstGeom prst="rect">
            <a:avLst/>
          </a:prstGeom>
          <a:solidFill>
            <a:srgbClr val="04283A">
              <a:alpha val="78000"/>
            </a:srgbClr>
          </a:solidFill>
          <a:ln/>
        </p:spPr>
      </p:sp>
      <p:pic>
        <p:nvPicPr>
          <p:cNvPr id="5" name="Image 1" descr="/home/user/miaparkocean/sunum/kaynak/logo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7200"/>
            <a:ext cx="2148840" cy="147218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66928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LANSMAN · İŞ ORTAKLARI SUNUMU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566928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Lüks artık ulaşılabilir.</a:t>
            </a:r>
            <a:endParaRPr lang="en-US" sz="4600" dirty="0"/>
          </a:p>
        </p:txBody>
      </p:sp>
      <p:sp>
        <p:nvSpPr>
          <p:cNvPr id="8" name="Text 4"/>
          <p:cNvSpPr/>
          <p:nvPr/>
        </p:nvSpPr>
        <p:spPr>
          <a:xfrm>
            <a:off x="566928" y="4553712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 MİA Bölgesi'nde 600 daire · Tasarrufa dayalı faizsiz finansman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66928" y="53949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Ağustos 2026   ·   Emex Otel, Kocaeli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66928" y="576072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S.S. Yahya Kaptan Birlik Yapı Kooperatifi   ·   Ocean Gayrimenkul, Tek Yetkili Satıcı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Yirmi dakikada altı başlık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75104"/>
            <a:ext cx="475488" cy="47548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75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43584" y="188366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43584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daire, dört yaşam tipi, İzmit MİA Bölgesi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48" y="1975104"/>
            <a:ext cx="475488" cy="47548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9" name="Text 7"/>
          <p:cNvSpPr/>
          <p:nvPr/>
        </p:nvSpPr>
        <p:spPr>
          <a:xfrm>
            <a:off x="6099048" y="1975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75704" y="188366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Konum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75704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D100'e 1 dakika, şehir merkezine 5 dakika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273552"/>
            <a:ext cx="475488" cy="47548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73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43584" y="318211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Ödeme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43584" y="35478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Banka yok, faiz yok, kefil yok — 60 ay sabit taksit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99048" y="3273552"/>
            <a:ext cx="475488" cy="475488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17" name="Text 15"/>
          <p:cNvSpPr/>
          <p:nvPr/>
        </p:nvSpPr>
        <p:spPr>
          <a:xfrm>
            <a:off x="6099048" y="3273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5704" y="318211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775704" y="35478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MİA Bölgesi m² fiyatı ve beş yıllık projeksiyon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4572000"/>
            <a:ext cx="475488" cy="475488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572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44805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Güvence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43584" y="4846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Kooperatif neden devlet denetiminde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99048" y="4572000"/>
            <a:ext cx="475488" cy="475488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25" name="Text 23"/>
          <p:cNvSpPr/>
          <p:nvPr/>
        </p:nvSpPr>
        <p:spPr>
          <a:xfrm>
            <a:off x="6099048" y="4572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75704" y="44805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 birliği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775704" y="4846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ne veriyoruz, nasıl çalışıyoruz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gunduz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577840" y="640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KÜNYESİ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577840" y="950976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 daire, dört yaşam tipi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577840" y="19659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577840" y="26426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daire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595360" y="19659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595360" y="26426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Yaşam tipi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577840" y="33375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28–100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577840" y="40142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m² brüt aralık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595360" y="33375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595360" y="40142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 sabit taksit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577840" y="4800600"/>
            <a:ext cx="5989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70448" y="50109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Yapımcı  ·  S.S. Yahya Kaptan Birlik Yapı Kooperatifi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70448" y="53583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 ·  Ocean Gayrimenkul, Tek Yetkili Satıcı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70448" y="57058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  ·  İzmit MİA Bölgesi, Kocaeli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yere yakın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86384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D100 Karayolu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86384" y="2404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dk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3355848" y="1783080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75304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 Sahili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75304" y="2404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dk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6144768" y="1783080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64224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Burada AVM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64224" y="2404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dk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8933688" y="1783080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 Merkezi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53144" y="2404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dk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566928" y="3264408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6384" y="34472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 Hastanesi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86384" y="3886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dk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3355848" y="3264408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575304" y="34472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Otoyolu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75304" y="3886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dk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6144768" y="3264408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364224" y="34472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AVM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364224" y="3886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dk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8933688" y="3264408"/>
            <a:ext cx="254203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53144" y="34472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Kocaeli Üniversitesi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153144" y="3886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dk</a:t>
            </a:r>
            <a:endParaRPr lang="en-US" sz="2700" dirty="0"/>
          </a:p>
        </p:txBody>
      </p:sp>
      <p:sp>
        <p:nvSpPr>
          <p:cNvPr id="28" name="Shape 26"/>
          <p:cNvSpPr/>
          <p:nvPr/>
        </p:nvSpPr>
        <p:spPr>
          <a:xfrm>
            <a:off x="566928" y="4956048"/>
            <a:ext cx="11027664" cy="1170432"/>
          </a:xfrm>
          <a:prstGeom prst="roundRect">
            <a:avLst>
              <a:gd name="adj" fmla="val 7031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59536" y="5175504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İzmit'in gelişim aksı MİA Bölgesi. Üniversite, hastane, AVM ve ana yollar dakikalar içinde — müşteriye anlatırken en kolay satan başlık bu.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tip, 600 daire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42032" cy="274320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783080"/>
            <a:ext cx="2542032" cy="658368"/>
          </a:xfrm>
          <a:prstGeom prst="roundRect">
            <a:avLst>
              <a:gd name="adj" fmla="val 12500"/>
            </a:avLst>
          </a:prstGeom>
          <a:solidFill>
            <a:srgbClr val="0758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8308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1+0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86384" y="26700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86384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28 m²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86384" y="39502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ev ve yatırım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5848" y="1783080"/>
            <a:ext cx="2542032" cy="274320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5848" y="1783080"/>
            <a:ext cx="2542032" cy="658368"/>
          </a:xfrm>
          <a:prstGeom prst="roundRect">
            <a:avLst>
              <a:gd name="adj" fmla="val 12500"/>
            </a:avLst>
          </a:prstGeom>
          <a:solidFill>
            <a:srgbClr val="075878"/>
          </a:solidFill>
          <a:ln/>
        </p:spPr>
      </p:sp>
      <p:sp>
        <p:nvSpPr>
          <p:cNvPr id="13" name="Text 11"/>
          <p:cNvSpPr/>
          <p:nvPr/>
        </p:nvSpPr>
        <p:spPr>
          <a:xfrm>
            <a:off x="3538728" y="178308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1+1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575304" y="26700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575304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75304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50 m²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75304" y="39502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ve küçük aile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1783080"/>
            <a:ext cx="2542032" cy="274320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44768" y="1783080"/>
            <a:ext cx="2542032" cy="658368"/>
          </a:xfrm>
          <a:prstGeom prst="roundRect">
            <a:avLst>
              <a:gd name="adj" fmla="val 12500"/>
            </a:avLst>
          </a:prstGeom>
          <a:solidFill>
            <a:srgbClr val="1A7496"/>
          </a:solidFill>
          <a:ln/>
        </p:spPr>
      </p:sp>
      <p:sp>
        <p:nvSpPr>
          <p:cNvPr id="20" name="Text 18"/>
          <p:cNvSpPr/>
          <p:nvPr/>
        </p:nvSpPr>
        <p:spPr>
          <a:xfrm>
            <a:off x="6327648" y="178308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1+1 Bahçe Loft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64224" y="26700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364224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64224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50 m²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9502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Zeminde kendi bahçesi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33688" y="1783080"/>
            <a:ext cx="2542032" cy="274320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33688" y="1783080"/>
            <a:ext cx="2542032" cy="658368"/>
          </a:xfrm>
          <a:prstGeom prst="roundRect">
            <a:avLst>
              <a:gd name="adj" fmla="val 12500"/>
            </a:avLst>
          </a:prstGeom>
          <a:solidFill>
            <a:srgbClr val="1A7496"/>
          </a:solidFill>
          <a:ln/>
        </p:spPr>
      </p:sp>
      <p:sp>
        <p:nvSpPr>
          <p:cNvPr id="27" name="Text 25"/>
          <p:cNvSpPr/>
          <p:nvPr/>
        </p:nvSpPr>
        <p:spPr>
          <a:xfrm>
            <a:off x="9116568" y="178308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2+1 Bahçe Dubleks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153144" y="26700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9153144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53144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100 m²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53144" y="39502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Bahçeli dubleks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846320"/>
            <a:ext cx="11027664" cy="1298448"/>
          </a:xfrm>
          <a:prstGeom prst="roundRect">
            <a:avLst>
              <a:gd name="adj" fmla="val 6338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59536" y="508406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Stokun %79'u 1+0. Kampanyayı ve müşteri akışını buraya kurun; bahçeli tipler 32 adetle sınırlı, onları aciliyet argümanı olarak kullanın.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avl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8463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49240" y="640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YAŞAM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349240" y="950976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Merkezi avlu çevresinde hayat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349240" y="1920240"/>
            <a:ext cx="310896" cy="31089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6" name="Text 3"/>
          <p:cNvSpPr/>
          <p:nvPr/>
        </p:nvSpPr>
        <p:spPr>
          <a:xfrm>
            <a:off x="534924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806440" y="19019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Merkezi avlu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503920" y="1920240"/>
            <a:ext cx="310896" cy="310896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961120" y="19019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Dekoratif süs havuzları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349240" y="2706624"/>
            <a:ext cx="310896" cy="31089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2" name="Text 9"/>
          <p:cNvSpPr/>
          <p:nvPr/>
        </p:nvSpPr>
        <p:spPr>
          <a:xfrm>
            <a:off x="534924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806440" y="2688336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 peyzaj alanları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503920" y="2706624"/>
            <a:ext cx="310896" cy="310896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15" name="Text 12"/>
          <p:cNvSpPr/>
          <p:nvPr/>
        </p:nvSpPr>
        <p:spPr>
          <a:xfrm>
            <a:off x="850392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688336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Yürüyüş ve dinlenme yolları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349240" y="3493008"/>
            <a:ext cx="310896" cy="31089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8" name="Text 15"/>
          <p:cNvSpPr/>
          <p:nvPr/>
        </p:nvSpPr>
        <p:spPr>
          <a:xfrm>
            <a:off x="5349240" y="3493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806440" y="34747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Bahçeli zemin daireler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8503920" y="3493008"/>
            <a:ext cx="310896" cy="310896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21" name="Text 18"/>
          <p:cNvSpPr/>
          <p:nvPr/>
        </p:nvSpPr>
        <p:spPr>
          <a:xfrm>
            <a:off x="8503920" y="3493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961120" y="34747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 gece aydınlatması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349240" y="4279392"/>
            <a:ext cx="310896" cy="31089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4" name="Text 21"/>
          <p:cNvSpPr/>
          <p:nvPr/>
        </p:nvSpPr>
        <p:spPr>
          <a:xfrm>
            <a:off x="5349240" y="4279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806440" y="426110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Kapalı otopark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8503920" y="4279392"/>
            <a:ext cx="310896" cy="310896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27" name="Text 24"/>
          <p:cNvSpPr/>
          <p:nvPr/>
        </p:nvSpPr>
        <p:spPr>
          <a:xfrm>
            <a:off x="8503920" y="4279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6110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7/24 güvenlik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349240" y="5349240"/>
            <a:ext cx="6217920" cy="868680"/>
          </a:xfrm>
          <a:prstGeom prst="roundRect">
            <a:avLst>
              <a:gd name="adj" fmla="val 9474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5596128" y="554126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Avludaki su süs havuzudur; yüzme havuzu olarak anlatmayın.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 MODELİ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Banka yok. Faiz yok. Kefil yok.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18745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27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%0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Faiz / vade farkı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70248" y="18745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27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4270248" y="292608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 sabit taksit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73568" y="187452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27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7973568" y="292608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ödeme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370332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48ABC5">
                <a:alpha val="4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496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Tasarrufa dayalı finansman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 esaslı, faizsiz bir model. Bankaya ve kefile gerek yok.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44768" y="370332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48ABC5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8496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taksit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416052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belirlenen taksit 60 ay boyunca aynı kalır. Balon taksit yok.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001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48ABC5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48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Enflasyon avantajı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5458968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Taksit sabit kaldığı için ödemenin gerçek yükü ay ay hafifler.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44768" y="5001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48ABC5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148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Üye maliyetine konut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5458968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Kooperatif kâr amacı gütmez; araya müteahhit kârı girmez.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YATIRIM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MİA Bölgesi'nde m² değeri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55648"/>
          <a:ext cx="685800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810512"/>
            <a:ext cx="3822192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28432" y="193852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89.000 ₺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28432" y="2450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bugünkü m² birim fiyatı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0" y="3090672"/>
            <a:ext cx="3822192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28432" y="321868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%25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028432" y="37307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yıllık öngörülen artış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0" y="4370832"/>
            <a:ext cx="3822192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028432" y="449884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028432" y="50109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yıl sonra değer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772400" y="5669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Projeksiyon %25 yıllık artış varsayımına dayalı bir öngörüdür; kesin değer taahhüdü değildir.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Kooperatif devlet denetiminde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0312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0848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1163 sayılı Kanun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48716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Kuruluştan tasfiyeye kadar her şey 1969'dan beri yürürlükteki Kooperatifler Kanunu ile tanımlı.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8288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210312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20848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e-Devlet / KOOPBİS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48716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sözleşme, organlar, genel kurul kararları ve ortaklık kaydı e-Devlet'ten görülebilir.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02336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400507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Bakanlık temsilcisi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63040" y="440740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kurul, Bakanlık tarafından görevlendirilen temsilci gözetiminde yapılır.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374904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402336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400507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Çok katmanlı denetim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40880" y="440740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İçeride ortakların seçtiği denetim organı, dışarıda bağımsız dış denetim ve Bakanlık yetkisi.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58704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bilgilendirmedir; güncel mevzuat ve kooperatif ana sözleşmesi esastır.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itiraz, dört cevap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27664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92938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"Kooperatif riskli."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44568" y="192938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1163 sayılı Kanun kapsamında, KOOPBİS'ten izlenebilir, genel kurulu Bakanlık temsilcisi gözetiminde.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916936"/>
            <a:ext cx="11027664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30632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"Kredim çıkmıyor."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44568" y="306324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Zaten bankaya gitmiyoruz. Ne kredi, ne faiz, ne kefil.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050792"/>
            <a:ext cx="11027664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" y="419709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"Taksit sonradan artar mı?"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419709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Hayır. Bugün belirlenen taksit 60 ay sabit; ara ödeme ve balon taksit yok.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84648"/>
            <a:ext cx="11027664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533095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75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"Tapuyu ne zaman alırım?"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44568" y="533095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İnşaat tamamlandıktan sonra ferdileşme ile daire adınıza tapuya bağlanır.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al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0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KİTLE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950976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Kimi getireceksiniz?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66928" y="1874520"/>
            <a:ext cx="6263640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20025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evini alan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23317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Peşinatı olan ama kredisi çıkmayan genç alıcı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01768" y="2148840"/>
            <a:ext cx="1664208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9" name="Text 6"/>
          <p:cNvSpPr/>
          <p:nvPr/>
        </p:nvSpPr>
        <p:spPr>
          <a:xfrm>
            <a:off x="5001768" y="214884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6263640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309981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Yatırımcı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4290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Kiralamak ve değerlenme bekleyen küçük yatırımcı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3246120"/>
            <a:ext cx="1664208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14" name="Text 11"/>
          <p:cNvSpPr/>
          <p:nvPr/>
        </p:nvSpPr>
        <p:spPr>
          <a:xfrm>
            <a:off x="5001768" y="324612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1+0 · 1+1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66928" y="4069080"/>
            <a:ext cx="6263640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41970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Küçük aile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ya da tek çocuklu aile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01768" y="4343400"/>
            <a:ext cx="1664208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19" name="Text 16"/>
          <p:cNvSpPr/>
          <p:nvPr/>
        </p:nvSpPr>
        <p:spPr>
          <a:xfrm>
            <a:off x="5001768" y="434340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1+1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6263640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22960" y="52943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Bahçe isteyen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22960" y="56235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Apartmanda müstakil ev hissi arayan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01768" y="5440680"/>
            <a:ext cx="1664208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24" name="Text 21"/>
          <p:cNvSpPr/>
          <p:nvPr/>
        </p:nvSpPr>
        <p:spPr>
          <a:xfrm>
            <a:off x="5001768" y="54406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Bahçe Loft · Dubleks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SATIŞ DESTEĞİ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Elinize ne veriyoruz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0312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Bilbord ve saha panosu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999232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farklı tasarım, baskıya hazır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103120"/>
            <a:ext cx="457200" cy="457200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11" name="Text 9"/>
          <p:cNvSpPr/>
          <p:nvPr/>
        </p:nvSpPr>
        <p:spPr>
          <a:xfrm>
            <a:off x="455371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Roll-up ve totem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2999232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Ofisiniz ve stant için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66176" y="210312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6" name="Text 14"/>
          <p:cNvSpPr/>
          <p:nvPr/>
        </p:nvSpPr>
        <p:spPr>
          <a:xfrm>
            <a:off x="826617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66176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Dijital katalog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66176" y="2999232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Daire planları ve teknik bilgiler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3977640"/>
            <a:ext cx="457200" cy="457200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" y="45445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miaparkocean.com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" y="4873752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Karekodla açılan tanıtım sitesi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79392" y="370332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3977640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53712" y="45445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Sosyal medya seti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873752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gönderi ve reels içerikleri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91856" y="370332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66176" y="3977640"/>
            <a:ext cx="457200" cy="457200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31" name="Text 29"/>
          <p:cNvSpPr/>
          <p:nvPr/>
        </p:nvSpPr>
        <p:spPr>
          <a:xfrm>
            <a:off x="826617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66176" y="45445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Tanıtım filmi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66176" y="4873752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tanıtım videosu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5623560"/>
            <a:ext cx="11027664" cy="777240"/>
          </a:xfrm>
          <a:prstGeom prst="roundRect">
            <a:avLst>
              <a:gd name="adj" fmla="val 10588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59536" y="577900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görseller baskıya hazır dosya olarak paylaşılır; kendi logonuzu ekleyeceğiniz alanlar bırakılmıştır.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1A7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 BİRLİĞİ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Nasıl çalışıyoruz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344168" y="1874520"/>
            <a:ext cx="566928" cy="56692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5" name="Text 3"/>
          <p:cNvSpPr/>
          <p:nvPr/>
        </p:nvSpPr>
        <p:spPr>
          <a:xfrm>
            <a:off x="1344168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6060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66928" y="2962656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Emlakçı kaydı ve yetki belgesi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75304" y="1874520"/>
            <a:ext cx="566928" cy="56692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9" name="Text 7"/>
          <p:cNvSpPr/>
          <p:nvPr/>
        </p:nvSpPr>
        <p:spPr>
          <a:xfrm>
            <a:off x="3575304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98064" y="26060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bildirimi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98064" y="2962656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ofise gelmeden önce bildirilir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06440" y="1874520"/>
            <a:ext cx="566928" cy="56692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26060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Görüşme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029200" y="2962656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ofisinde birlikte ya da bizim tarafımızdan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37576" y="1874520"/>
            <a:ext cx="566928" cy="56692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7" name="Text 15"/>
          <p:cNvSpPr/>
          <p:nvPr/>
        </p:nvSpPr>
        <p:spPr>
          <a:xfrm>
            <a:off x="803757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0336" y="26060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Sözleşme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260336" y="2962656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Ortaklık işlemleri ve peşinat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268712" y="1874520"/>
            <a:ext cx="566928" cy="566928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1" name="Text 19"/>
          <p:cNvSpPr/>
          <p:nvPr/>
        </p:nvSpPr>
        <p:spPr>
          <a:xfrm>
            <a:off x="1026871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91472" y="26060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Hakediş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491472" y="2962656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Komisyon ödemesi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977640"/>
            <a:ext cx="11027664" cy="1965960"/>
          </a:xfrm>
          <a:prstGeom prst="roundRect">
            <a:avLst>
              <a:gd name="adj" fmla="val 4186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77824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27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77824" y="44805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Komisyon oranı:  ______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Hakediş zamanı:  ______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bildirim / koruma süresi:  ______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deniz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2514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2514600"/>
          </a:xfrm>
          <a:prstGeom prst="rect">
            <a:avLst/>
          </a:prstGeom>
          <a:solidFill>
            <a:srgbClr val="04283A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MÜŞTERİ SÜRECİ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Peşinattan tapuya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66928" y="3063240"/>
            <a:ext cx="254203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310128"/>
            <a:ext cx="493776" cy="49377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33101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9502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Peşinat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4315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Avantajlı peşinatla başlar, kalan tutar 60 aya kadar taksitlenir.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55848" y="3063240"/>
            <a:ext cx="254203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3310128"/>
            <a:ext cx="493776" cy="49377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3" name="Text 10"/>
          <p:cNvSpPr/>
          <p:nvPr/>
        </p:nvSpPr>
        <p:spPr>
          <a:xfrm>
            <a:off x="3611880" y="33101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611880" y="39502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ay taksit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611880" y="4315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Faiz yok, kefil yok, banka yok. Sabit taksit, ara ödeme yok.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44768" y="3063240"/>
            <a:ext cx="254203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3310128"/>
            <a:ext cx="493776" cy="493776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33101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9502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İnşaat ve takip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0" y="4315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Ödemeler ve inşaat aşamaları KOOPBİS ve ilerleme panelinden izlenir.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933688" y="3063240"/>
            <a:ext cx="254203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189720" y="3310128"/>
            <a:ext cx="493776" cy="493776"/>
          </a:xfrm>
          <a:prstGeom prst="ellipse">
            <a:avLst/>
          </a:prstGeom>
          <a:solidFill>
            <a:srgbClr val="1A7496"/>
          </a:solidFill>
          <a:ln/>
        </p:spPr>
      </p:sp>
      <p:sp>
        <p:nvSpPr>
          <p:cNvPr id="23" name="Text 20"/>
          <p:cNvSpPr/>
          <p:nvPr/>
        </p:nvSpPr>
        <p:spPr>
          <a:xfrm>
            <a:off x="9189720" y="33101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189720" y="39502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28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Tapu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189720" y="4315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İnşaat bitince ferdileşme ile daire adına tapuya bağlanır.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logo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777240"/>
            <a:ext cx="2377440" cy="1627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761488"/>
            <a:ext cx="7498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Yarın sabah ilk müşterinizi getirin.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566928" y="42062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ofisimiz her gün açık. Kahvemizi içmeye bekleriz.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66928" y="48920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0540 028 00 41   ·   0541 128 40 41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miaparkocean.com   ·   @miaparkocean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GAYRİMENKUL  ·  Tek Yetkili Satıcı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9052560" y="3063240"/>
            <a:ext cx="2542032" cy="2542032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</p:sp>
      <p:pic>
        <p:nvPicPr>
          <p:cNvPr id="7" name="Image 1" descr="/home/user/miaparkocean/sunum/kaynak/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016" y="3282696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052560" y="5705856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Projeyi telefonunuzda açın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MİA PARK OCEAN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MİA PARK OCEAN — Lansman Sunumu</dc:title>
  <dc:subject>PptxGenJS Presentation</dc:subject>
  <dc:creator>Ocean Gayrimenkul</dc:creator>
  <cp:lastModifiedBy>Ocean Gayrimenkul</cp:lastModifiedBy>
  <cp:revision>1</cp:revision>
  <dcterms:created xsi:type="dcterms:W3CDTF">2026-08-20T13:05:40Z</dcterms:created>
  <dcterms:modified xsi:type="dcterms:W3CDTF">2026-08-20T13:05:40Z</dcterms:modified>
</cp:coreProperties>
</file>