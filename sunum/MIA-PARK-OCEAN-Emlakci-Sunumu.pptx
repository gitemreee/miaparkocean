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ve Ocean Gayrimenkul'ü tanıtın. Bu sunum bir konut kataloğu değil; bugün emlakçıya 'bu projeyi neden portföyüne almalı' sorusunun cevabını veriyoruz. Süre 25 dakika, sonrasında soru-cevap.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Gündemi hızlı geçin. Vurgu 5. ve 7. başlıkta: ödeme modeli ve iş birliği. Emlakçı bu ikisini anlarsa gerisi kolay.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Projeyi 30 saniyede anlatın: 600 konut, MİA Bölgesi, 60 aya kadar vade farksız, %30 peşinat. Emlakçı bu dört rakamı aklında tutsun.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sunumun tezi. Emlakçı 'güzel proje' duymaktan sıkılmıştır; ona satılabilirlik argümanı verin.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Mesafeleri ezberleyin; en çok D100 ve şehir hastanesi sorulur. İzmit Sahili süresi teyide açık, kesin konuşmayın.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MİA kısaltmasını mutlaka açın. DİKKAT: 'kesin değer artışı' demeyin; 'potansiyel', 'gelişim aksı', 'yatırım çekiciliği' deyin.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yönlü anlatı: İzmit yatırımcısına merkeziyet, İstanbul yatırımcısına bütçe. Marmara yatırımcısı ikinci müşteri havuzu.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Projede yüzme havuzu YOK. Sudaki öğeler peyzaj amaçlı süs havuzu ve su aksı.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ÖNEMLİ: Süs havuzu ile yüzme havuzunu karıştırmayın. Yüzme havuzu sözü verilirse teslimde sorun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584 dairenin ikisi de kompakt: çok geniş bir müşteri havuzuna satarsınız. Bu sunumda 2+1'den söz etmiyoruz.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1+0 anlatırken metrekareyi savunmayın, kiracı havuzunu anlatın. 472 adet: emlakçı için bitmeyen stok.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1+1'i 'bir üst adım' olarak konumlayın: hem oturum alıcısı hem yatırımcı için dengeli ürün.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profili okurken emlakçıya sorun: portföyünüzde böyle kaç müşteri var? Salonda isim çıkarsa satış başlamıştır.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en güçlü slaydı. Tek cümle: bankaya gitmeden, faiz ödemeden, kefil bulmadan ev. Kredisi çıkmayan müşteri artık kayıp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Rakamları verirken mutlaka dipnotu söyleyin: fiyat ve kampanya koşulları dönemseldir. Yazılı teklif satış ofisinden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Süreci dört adımda anlatın. 'Ferdileşme' kelimesini kullanın ve tapunun inşaat bitiminde olduğunu net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beş cümleyi emlakçıya ezberletin. Sırası önemli: konum, mesafe, ürün, ödeme, pazar.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soru en çok gelen soru. KOOPBİS'i telefonda canlı gösterin — en ikna edici hamle. Garanti cümlesi KURMAYIN.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Sade ve kurumsal anlatın. KOOPBİS kaydını göstermeyi teklif edin; belgeleri gösterme sözü verin ve tutun.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Komisyon oranı, hakediş zamanı ve müşteri koruma süresi BOŞ bırakıldı — bu rakamlar sizde. Sunumdan önce doldurun; emlakçının en çok merak ettiği slayt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olun: hangi dosyayı ne zaman göndereceğinizi söyleyin. Emlakçı eli boş dönmesin.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konuşmayın, bıraktırın. Gerekirse tek cümle: bunların hepsi projenin kendi görselleri.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Kapanıştan önce rakam özeti. Altı rakamı tek tek okumayın; emlakçının aklında 600 / 60 ay / %30 kalsın.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Kapanıştan önce özet. Üç kelime kalsın: konum, ürün, hikâye.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Kapanış: net çağrı yapın. Kayıt formunu dağıtın; bugün kaydolan emlakçıya katalog ve görsel setini akşam gönderin. Randevu almadan salondan çıkarmayın.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261554" y="924762"/>
            <a:ext cx="2941932" cy="2941932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7527196" y="879508"/>
            <a:ext cx="2776408" cy="2776408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4" name="Image 0" descr="/home/user/miaparkocean/sunum/kaynak/sekil/e-kapak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530352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5880722" y="3686162"/>
            <a:ext cx="1863116" cy="1863116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6" name="Image 1" descr="/home/user/miaparkocean/sunum/kaynak/sekil/e-kapa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451860"/>
            <a:ext cx="2331720" cy="23317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463857" y="4181929"/>
            <a:ext cx="743565" cy="743565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5904615" y="2850519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10926604" y="685324"/>
            <a:ext cx="549592" cy="549592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rot="2700000">
            <a:off x="11378733" y="6166653"/>
            <a:ext cx="193974" cy="19397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1" name="Shape 7"/>
          <p:cNvSpPr/>
          <p:nvPr/>
        </p:nvSpPr>
        <p:spPr>
          <a:xfrm rot="2700000">
            <a:off x="11691658" y="6369850"/>
            <a:ext cx="336221" cy="336221"/>
          </a:xfrm>
          <a:prstGeom prst="rect">
            <a:avLst/>
          </a:prstGeom>
          <a:ln w="11430">
            <a:solidFill>
              <a:srgbClr val="06192B"/>
            </a:solidFill>
            <a:prstDash val="solid"/>
          </a:ln>
        </p:spPr>
      </p:sp>
      <p:pic>
        <p:nvPicPr>
          <p:cNvPr id="12" name="Image 2" descr="/home/user/miaparkocean/public/brand/logo-ocean-tri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58368"/>
            <a:ext cx="1783080" cy="12252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" y="23317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822960" y="26974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400" b="1" spc="1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</a:t>
            </a:r>
            <a:endParaRPr lang="en-US" sz="5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400" b="1" spc="1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</a:t>
            </a:r>
            <a:endParaRPr lang="en-US" sz="5400" dirty="0"/>
          </a:p>
        </p:txBody>
      </p:sp>
      <p:sp>
        <p:nvSpPr>
          <p:cNvPr id="15" name="Shape 10"/>
          <p:cNvSpPr/>
          <p:nvPr/>
        </p:nvSpPr>
        <p:spPr>
          <a:xfrm>
            <a:off x="822960" y="46634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2960" y="4828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spc="3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MİA BÖLGESİ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822960" y="51755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Emlakçılar için yeni bir satış fırsatı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22960" y="5742432"/>
            <a:ext cx="3246120" cy="475488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19" name="Text 14"/>
          <p:cNvSpPr/>
          <p:nvPr/>
        </p:nvSpPr>
        <p:spPr>
          <a:xfrm>
            <a:off x="1024128" y="574243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14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 AĞUSTOS 2026  ·  EMEX OTEL, KOCAELİ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gund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56070" y="1941870"/>
            <a:ext cx="2974261" cy="2974261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615595" y="5873395"/>
            <a:ext cx="323289" cy="323289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Shape 2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3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spc="15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2636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GÜNDEM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63640" y="1115568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 NELER</a:t>
            </a:r>
            <a:endParaRPr lang="en-US" sz="3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KONUŞACAĞIZ?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 rot="2700000">
            <a:off x="6381212" y="28241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7"/>
          <p:cNvSpPr/>
          <p:nvPr/>
        </p:nvSpPr>
        <p:spPr>
          <a:xfrm>
            <a:off x="6190488" y="2752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903720" y="2798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rot="2700000">
            <a:off x="6381212" y="32813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3209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903720" y="3255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 ve MİA Bölgesi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 rot="2700000">
            <a:off x="6381212" y="37385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3"/>
          <p:cNvSpPr/>
          <p:nvPr/>
        </p:nvSpPr>
        <p:spPr>
          <a:xfrm>
            <a:off x="6190488" y="3666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03720" y="3712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Mimari ve Yaşam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rot="2700000">
            <a:off x="6381212" y="41957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6"/>
          <p:cNvSpPr/>
          <p:nvPr/>
        </p:nvSpPr>
        <p:spPr>
          <a:xfrm>
            <a:off x="6190488" y="41239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903720" y="41696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Dağılımı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rot="2700000">
            <a:off x="6381212" y="46529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190488" y="45811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03720" y="46268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 Modeli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rot="2700000">
            <a:off x="6381212" y="51101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2"/>
          <p:cNvSpPr/>
          <p:nvPr/>
        </p:nvSpPr>
        <p:spPr>
          <a:xfrm>
            <a:off x="6190488" y="5038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903720" y="5084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Profilleri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rot="2700000">
            <a:off x="6381212" y="55673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8" name="Text 25"/>
          <p:cNvSpPr/>
          <p:nvPr/>
        </p:nvSpPr>
        <p:spPr>
          <a:xfrm>
            <a:off x="6190488" y="5495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03720" y="5541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Süreci ve İş Birliği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 rot="2700000">
            <a:off x="6381212" y="6024596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1" name="Text 28"/>
          <p:cNvSpPr/>
          <p:nvPr/>
        </p:nvSpPr>
        <p:spPr>
          <a:xfrm>
            <a:off x="6190488" y="5952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903720" y="5998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 ve İletişim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NEDİR?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9339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MİA Bölgesi'nde tek etapta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274320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97764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VE 1+1 STOK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7764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Satışın omurgası kompakt segment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77640" y="3749040"/>
            <a:ext cx="274320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296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yok, faiz yok, kefil yok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2960" y="5321808"/>
            <a:ext cx="274320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97764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97764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Kalan tutar 60 aya kadar taksit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77640" y="5321808"/>
            <a:ext cx="274320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74243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OCEAN, İzmit'in gelişen merkezi iş alanında konumlanan; yatırım ve yaşam talebini aynı noktada buluşturan modern konut projesidir.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 rot="2700000">
            <a:off x="8002773" y="1784853"/>
            <a:ext cx="2922535" cy="2922535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23" name="Image 0" descr="/home/user/miaparkocean/sunum/kaynak/sekil/e-oz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657600" cy="36576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 rot="2700000">
            <a:off x="11307610" y="5089690"/>
            <a:ext cx="336221" cy="33622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Shape 22"/>
          <p:cNvSpPr/>
          <p:nvPr/>
        </p:nvSpPr>
        <p:spPr>
          <a:xfrm rot="2700000">
            <a:off x="7356752" y="1001672"/>
            <a:ext cx="465536" cy="465536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 DEĞERLENDİRMESİ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SATILMASI KOLAY BİR ÜRÜN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OLUŞUR?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852928"/>
            <a:ext cx="512064" cy="51206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6" name="Image 0" descr="/home/user/miaparkocean/sunum/kaynak/sekil/i-pin-alt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90" y="2934858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572768" y="3127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Müşteriye konumu anlatmak kolay; dakika bazlı mesafeler tek cümlede aktarılır.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822960" y="3712464"/>
            <a:ext cx="512064" cy="51206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10" name="Image 1" descr="/home/user/miaparkocean/sunum/kaynak/sekil/i-ev-alt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3794394"/>
            <a:ext cx="348204" cy="3482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6941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 seçenekleri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572768" y="398678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Daha geniş yatırımcı kitlesine hitap eder; giriş bütçesi düşer, talep genişler.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22960" y="4572000"/>
            <a:ext cx="512064" cy="51206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14" name="Image 2" descr="/home/user/miaparkocean/sunum/kaynak/sekil/i-takvim-alt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0" y="4653930"/>
            <a:ext cx="348204" cy="3482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5537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Uzun vadeli ödeme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572768" y="4846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Alıcının giriş bariyerini azaltır; kredisi çıkmayan müşteri portföyde kalır.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22960" y="5431536"/>
            <a:ext cx="512064" cy="51206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18" name="Image 3" descr="/home/user/miaparkocean/sunum/kaynak/sekil/i-grafik-alt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90" y="5513466"/>
            <a:ext cx="348204" cy="3482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72768" y="5413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Güçlü proje görselliği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572768" y="570585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 ve dijital satışta yüksek algı oluşturur; materyal hazır gelir.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 rot="2700000">
            <a:off x="8222184" y="1592784"/>
            <a:ext cx="2849471" cy="2849471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22" name="Image 4" descr="/home/user/miaparkocean/sunum/kaynak/sekil/e-ned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234440"/>
            <a:ext cx="3566160" cy="356616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 rot="2700000">
            <a:off x="7675873" y="4813801"/>
            <a:ext cx="284495" cy="284495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24" name="Shape 17"/>
          <p:cNvSpPr/>
          <p:nvPr/>
        </p:nvSpPr>
        <p:spPr>
          <a:xfrm rot="2700000">
            <a:off x="11151512" y="910232"/>
            <a:ext cx="465536" cy="465536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7498080" y="5669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İyi proje yalnızca güzel değildir; doğru müşteriye kolay anlatılabilir.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kon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057501" y="2200501"/>
            <a:ext cx="2456998" cy="2456998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4082281" y="589273"/>
            <a:ext cx="284495" cy="284495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5" name="Text 2"/>
          <p:cNvSpPr/>
          <p:nvPr/>
        </p:nvSpPr>
        <p:spPr>
          <a:xfrm>
            <a:off x="525780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257800" y="1115568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 YERE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DAKİKALAR İÇİNDE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25780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5343234" y="2920074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6"/>
          <p:cNvSpPr/>
          <p:nvPr/>
        </p:nvSpPr>
        <p:spPr>
          <a:xfrm>
            <a:off x="5650992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92640" y="28346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94960" y="3218688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5343234" y="332241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3" name="Text 10"/>
          <p:cNvSpPr/>
          <p:nvPr/>
        </p:nvSpPr>
        <p:spPr>
          <a:xfrm>
            <a:off x="5650992" y="32369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Sahili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692640" y="32369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94960" y="3621024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5343234" y="372474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7" name="Text 14"/>
          <p:cNvSpPr/>
          <p:nvPr/>
        </p:nvSpPr>
        <p:spPr>
          <a:xfrm>
            <a:off x="5650992" y="3639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 Burada AVM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92640" y="36393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DK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394960" y="4023360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5343234" y="4127082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8"/>
          <p:cNvSpPr/>
          <p:nvPr/>
        </p:nvSpPr>
        <p:spPr>
          <a:xfrm>
            <a:off x="5650992" y="40416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Merkezi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692640" y="40416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394960" y="4425696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343234" y="4529418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2"/>
          <p:cNvSpPr/>
          <p:nvPr/>
        </p:nvSpPr>
        <p:spPr>
          <a:xfrm>
            <a:off x="5650992" y="44439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Hastanesi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692640" y="44439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394960" y="4828032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5343234" y="4931754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9" name="Text 26"/>
          <p:cNvSpPr/>
          <p:nvPr/>
        </p:nvSpPr>
        <p:spPr>
          <a:xfrm>
            <a:off x="5650992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 Otoyolu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692640" y="48463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394960" y="5230368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2700000">
            <a:off x="5343234" y="533409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3" name="Text 30"/>
          <p:cNvSpPr/>
          <p:nvPr/>
        </p:nvSpPr>
        <p:spPr>
          <a:xfrm>
            <a:off x="5650992" y="52486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Symbol AVM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69264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DK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394960" y="5632704"/>
            <a:ext cx="5943600" cy="0"/>
          </a:xfrm>
          <a:prstGeom prst="line">
            <a:avLst/>
          </a:prstGeom>
          <a:noFill/>
          <a:ln w="6350">
            <a:solidFill>
              <a:srgbClr val="E6DCC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2700000">
            <a:off x="5343234" y="573642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7" name="Text 34"/>
          <p:cNvSpPr/>
          <p:nvPr/>
        </p:nvSpPr>
        <p:spPr>
          <a:xfrm>
            <a:off x="5650992" y="5650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69264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b="1" spc="1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DK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5257800" y="61447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Günlük yaşam, ulaşım, sağlık, eğitim ve alışveriş birkaç dakikalık erişim alanında.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NEDEN</a:t>
            </a:r>
            <a:endParaRPr lang="en-US" sz="3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ÖNEMLİ?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MİA, Merkezi İş Alanı demektir: bir şehrin ofis, ticaret ve hizmet fonksiyonlarının yoğunlaşması için planlanan bölge.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8" name="Image 0" descr="/home/user/miaparkocean/sunum/kaynak/sekil/e-m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1887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92240" y="12435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ticari merkez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16093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Ofis, ticaret ve hizmet fonksiyonlarının yoğunlaşacağı bölge.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0680" y="2377440"/>
            <a:ext cx="589788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270662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492240" y="276148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yaşam aksı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272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konut ve karma kullanımlı projelerin geliştiği bölge.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40680" y="3895344"/>
            <a:ext cx="5897880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40680" y="42245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6492240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Değerlenme potansiyeli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9224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Altyapı ve ticari hareketlilik arttıkça bölgenin yatırım çekiciliği artar.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 rot="2700000">
            <a:off x="11296992" y="5902032"/>
            <a:ext cx="174576" cy="174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Shape 19"/>
          <p:cNvSpPr/>
          <p:nvPr/>
        </p:nvSpPr>
        <p:spPr>
          <a:xfrm rot="2700000">
            <a:off x="11578624" y="6084909"/>
            <a:ext cx="302599" cy="302599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40680" y="612648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Bölgesel gelişim bir potansiyeldir; değer artışı taahhüdü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PAZAR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İSTANBUL'A YAKIN, İZMİT'İN MERKEZİNDE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67712"/>
            <a:ext cx="5074920" cy="169164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YATIRIMCISI İÇİN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88720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Şehrin gelişen yeni merkezinde konum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91072" y="2267712"/>
            <a:ext cx="5074920" cy="1691640"/>
          </a:xfrm>
          <a:prstGeom prst="rect">
            <a:avLst/>
          </a:prstGeom>
          <a:solidFill>
            <a:srgbClr val="E6DCCB"/>
          </a:solidFill>
          <a:ln/>
        </p:spPr>
      </p:sp>
      <p:sp>
        <p:nvSpPr>
          <p:cNvPr id="9" name="Text 7"/>
          <p:cNvSpPr/>
          <p:nvPr/>
        </p:nvSpPr>
        <p:spPr>
          <a:xfrm>
            <a:off x="6656832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8A6B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YATIRIMCISI İÇİN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656832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Anadolu Yakası'na kıyasla erişilebilir bütçeyle konut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5074920"/>
            <a:ext cx="10287000" cy="0"/>
          </a:xfrm>
          <a:prstGeom prst="line">
            <a:avLst/>
          </a:prstGeom>
          <a:noFill/>
          <a:ln w="15875">
            <a:solidFill>
              <a:srgbClr val="C9A96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rot="2700000">
            <a:off x="1228893" y="4977933"/>
            <a:ext cx="193974" cy="193974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6246081" y="4874481"/>
            <a:ext cx="400879" cy="400879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2700000">
            <a:off x="6330136" y="4958536"/>
            <a:ext cx="232768" cy="23276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Shape 13"/>
          <p:cNvSpPr/>
          <p:nvPr/>
        </p:nvSpPr>
        <p:spPr>
          <a:xfrm rot="2700000">
            <a:off x="10967253" y="4977933"/>
            <a:ext cx="193974" cy="193974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367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ANADOLU YAKASI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57800" y="4471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1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· İZMİT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95560" y="5367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SAKARYA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5176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1,5–2 saat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6384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45–60 dakika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6035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yalnız İzmit'e değil; İstanbul ve Sakarya'dan gelen Marmara yatırımcısına da hitap eder.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tam-mim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iaparkocean/sunum/kaynak/perde-mim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3931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MİMARİ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822960" y="426110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VE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ZAMANSIZ MİMARİ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822960" y="5815584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 rot="2700000">
            <a:off x="6471179" y="4404635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4"/>
          <p:cNvSpPr/>
          <p:nvPr/>
        </p:nvSpPr>
        <p:spPr>
          <a:xfrm>
            <a:off x="67208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cephe dili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 rot="2700000">
            <a:off x="9214379" y="4404635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6"/>
          <p:cNvSpPr/>
          <p:nvPr/>
        </p:nvSpPr>
        <p:spPr>
          <a:xfrm>
            <a:off x="94640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 rot="2700000">
            <a:off x="6471179" y="4880123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8"/>
          <p:cNvSpPr/>
          <p:nvPr/>
        </p:nvSpPr>
        <p:spPr>
          <a:xfrm>
            <a:off x="67208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havuzu ve su aksları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 rot="2700000">
            <a:off x="9214379" y="4880123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0"/>
          <p:cNvSpPr/>
          <p:nvPr/>
        </p:nvSpPr>
        <p:spPr>
          <a:xfrm>
            <a:off x="94640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Düzenli site içi ulaşım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 rot="2700000">
            <a:off x="6471179" y="5355611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2"/>
          <p:cNvSpPr/>
          <p:nvPr/>
        </p:nvSpPr>
        <p:spPr>
          <a:xfrm>
            <a:off x="67208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Balkonlu daireler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 rot="2700000">
            <a:off x="9214379" y="5355611"/>
            <a:ext cx="96987" cy="9698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4"/>
          <p:cNvSpPr/>
          <p:nvPr/>
        </p:nvSpPr>
        <p:spPr>
          <a:xfrm>
            <a:off x="94640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Güvenlikli site yaklaşımı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46520" y="588873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Projedeki su öğeleri peyzaj amaçlı süs havuzu ve su akslarıdır.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SİTE KONSEPTİ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MERKEZİ AVLU ÇEVRESİNDE YAŞAM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435442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avlu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rot="2700000">
            <a:off x="4154514" y="2435442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425696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havuzları ve su aksları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294750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2700000">
            <a:off x="4154514" y="294750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Yürüyüş ve dinlenme yolları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45957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Çocuk oyun alanı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154514" y="345957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Kapalı otopark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3971634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7/24 güvenlik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154514" y="3971634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0" name="Text 18"/>
          <p:cNvSpPr/>
          <p:nvPr/>
        </p:nvSpPr>
        <p:spPr>
          <a:xfrm>
            <a:off x="4425696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 ışığı odaklı cepheler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4590288"/>
            <a:ext cx="6537960" cy="640080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22" name="Image 0" descr="/home/user/miaparkocean/sunum/kaynak/sekil/i-kalkan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736592"/>
            <a:ext cx="347472" cy="34747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08760" y="45902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Avludaki su SÜS havuzudur — yüzme havuzu diye anlatmayın.</a:t>
            </a:r>
            <a:endParaRPr lang="en-US" sz="1100" dirty="0"/>
          </a:p>
        </p:txBody>
      </p:sp>
      <p:pic>
        <p:nvPicPr>
          <p:cNvPr id="24" name="Image 1" descr="/home/user/miaparkocean/sunum/kaynak/foto/ya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212848"/>
            <a:ext cx="3246120" cy="2057400"/>
          </a:xfrm>
          <a:prstGeom prst="rect">
            <a:avLst/>
          </a:prstGeom>
        </p:spPr>
      </p:pic>
      <p:pic>
        <p:nvPicPr>
          <p:cNvPr id="25" name="Image 2" descr="/home/user/miaparkocean/sunum/kaynak/foto/ya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4407408"/>
            <a:ext cx="3246120" cy="2057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7424452" y="1938052"/>
            <a:ext cx="549592" cy="549592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 rot="2700000">
            <a:off x="11215251" y="1156851"/>
            <a:ext cx="155179" cy="155179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8" name="Shape 23"/>
          <p:cNvSpPr/>
          <p:nvPr/>
        </p:nvSpPr>
        <p:spPr>
          <a:xfrm rot="2700000">
            <a:off x="11465590" y="1319408"/>
            <a:ext cx="268977" cy="268977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SATIŞIN OMURGASI: 1+0 VE 1+1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pic>
        <p:nvPicPr>
          <p:cNvPr id="5" name="Image 0" descr="/home/user/miaparkocean/sunum/kaynak/foto/urun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4288"/>
            <a:ext cx="48463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4498848"/>
            <a:ext cx="4846320" cy="1389888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7" name="Shape 4"/>
          <p:cNvSpPr/>
          <p:nvPr/>
        </p:nvSpPr>
        <p:spPr>
          <a:xfrm rot="2700000">
            <a:off x="1157120" y="4723280"/>
            <a:ext cx="465536" cy="46553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5"/>
          <p:cNvSpPr/>
          <p:nvPr/>
        </p:nvSpPr>
        <p:spPr>
          <a:xfrm>
            <a:off x="93268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06324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24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06324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109728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Yatırım, kiralama ve kompakt yaşam talebine yönelik güçlü stok.</a:t>
            </a:r>
            <a:endParaRPr lang="en-US" sz="900" dirty="0"/>
          </a:p>
        </p:txBody>
      </p:sp>
      <p:pic>
        <p:nvPicPr>
          <p:cNvPr id="12" name="Image 1" descr="/home/user/miaparkocean/sunum/kaynak/foto/urun-1plu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304288"/>
            <a:ext cx="484632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26480" y="4498848"/>
            <a:ext cx="4846320" cy="1389888"/>
          </a:xfrm>
          <a:prstGeom prst="rect">
            <a:avLst/>
          </a:prstGeom>
          <a:solidFill>
            <a:srgbClr val="0E2E46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6460640" y="4723280"/>
            <a:ext cx="465536" cy="46553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1"/>
          <p:cNvSpPr/>
          <p:nvPr/>
        </p:nvSpPr>
        <p:spPr>
          <a:xfrm>
            <a:off x="623620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36676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24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836676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3400" dirty="0"/>
          </a:p>
        </p:txBody>
      </p:sp>
      <p:sp>
        <p:nvSpPr>
          <p:cNvPr id="18" name="Text 14"/>
          <p:cNvSpPr/>
          <p:nvPr/>
        </p:nvSpPr>
        <p:spPr>
          <a:xfrm>
            <a:off x="640080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kişi, çiftler ve yatırımcı müşteriler için dengeli ürün.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" y="6108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ana satış gücü kompakt daire segmentidir.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67163" y="2135843"/>
            <a:ext cx="2586314" cy="2586314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5" name="Text 2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8064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0644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— YATIRIMIN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YÜZÜ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5853539" y="2881739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1908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28 m²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2104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Verimli plan; her metrekare kullanımda.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06440" y="3474720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5853539" y="3668123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1908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32104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en derin stoğu — sürekli satış imkânı.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806440" y="4261104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5853539" y="4454507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1908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 odaklı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2104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talebi güçlü, likiditesi yüksek segment.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806440" y="5047488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853539" y="5240891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1908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müşteri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2104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Genç profesyonel, öğrenci velisi, kira geliri arayan yatırımcı.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80644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daire, geniş kiracı havuzu demektir: kiralama süresi kısalır, boş kalma riski düşer.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338218" y="2135843"/>
            <a:ext cx="2586314" cy="2586314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5" name="Text 2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20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 — DENGELİ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ÜRÜNÜ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0059" y="2881739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43560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50 m²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33756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alanı ile yatak odası ayrışır; konfor artar.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22960" y="3474720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0059" y="3668123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43560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 adet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33756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Talebi dengeleyen, kıtlığı hissedilen stok.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2960" y="4261104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0059" y="4454507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43560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Çift ve küçük aile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333756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Oturum amaçlı alıcının ilk tercihi.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22960" y="5047488"/>
            <a:ext cx="553212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0059" y="5240891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43560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Kiracı profili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333756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çiftler ve profesyoneller; istikrarlı kira.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2296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1+0'dan taşınan kiracının doğal adresi: site içinde yükselme merdiveni kurar.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KİTLE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 PROJEYİ KİME</a:t>
            </a:r>
            <a:endParaRPr lang="en-US" sz="26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SATABİLİRSİNİZ?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0059" y="2845163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77977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44752" y="28346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İlk kez konut alanlar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343400" y="2834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Düşük başlangıç bariyeri arayanlar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" y="3346704"/>
            <a:ext cx="640080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870059" y="3521819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4564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44752" y="351129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Yatırımcılar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343400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potansiyeli olan kompakt konut arayanlar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4023360"/>
            <a:ext cx="640080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870059" y="4198475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13308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44752" y="41879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yatırımcıları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43400" y="41879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dışında alternatif arayanlar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4700016"/>
            <a:ext cx="640080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700000">
            <a:off x="870059" y="4875131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09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44752" y="486460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profesyoneller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343400" y="48646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ve ulaşımı kolay daire isteyenler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5376672"/>
            <a:ext cx="640080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70059" y="5551787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4864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44752" y="55412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Üniversiteli aileleri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343400" y="55412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Üniversitesi'ne yakınlık arayanlar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 rot="2700000">
            <a:off x="8340968" y="1940168"/>
            <a:ext cx="2703344" cy="270334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30" name="Image 0" descr="/home/user/miaparkocean/sunum/kaynak/sekil/e-prof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00200"/>
            <a:ext cx="3383280" cy="338328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 rot="2700000">
            <a:off x="7858753" y="4932673"/>
            <a:ext cx="284495" cy="284495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2" name="Shape 29"/>
          <p:cNvSpPr/>
          <p:nvPr/>
        </p:nvSpPr>
        <p:spPr>
          <a:xfrm rot="2700000">
            <a:off x="11197232" y="955952"/>
            <a:ext cx="465536" cy="465536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1812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A7F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Reddedilen kredi başvurusu burada satışa dönüyor.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ode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989392" y="2329817"/>
            <a:ext cx="2198367" cy="2198367"/>
          </a:xfrm>
          <a:prstGeom prst="rect">
            <a:avLst/>
          </a:prstGeom>
          <a:ln w="15240">
            <a:solidFill>
              <a:srgbClr val="C9A96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FİNANSMAN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22960" y="1115568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ALICININ ÖNÜNDEKİ ENGELİ</a:t>
            </a:r>
            <a:endParaRPr lang="en-US" sz="25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AZALTAN ÖDEME MODELİ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822960" y="256032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6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429768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6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solidFill>
            <a:srgbClr val="0E2E46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spc="16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   ·   FAİZ YOK   ·   KEFİL YOK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550468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Tasarrufa dayalı finansman yaklaşımı sayesinde konut alımında banka kredisine alternatif bir ödeme modeli sunulur.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A79C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ÖRNEK ÖDEME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BUGÜNKÜ ÖDEME ÖRNEKLERİ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4846320" cy="301752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1271095" y="2624407"/>
            <a:ext cx="530194" cy="53019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240280" y="2889504"/>
            <a:ext cx="3063240" cy="0"/>
          </a:xfrm>
          <a:prstGeom prst="line">
            <a:avLst/>
          </a:prstGeom>
          <a:noFill/>
          <a:ln w="9525">
            <a:solidFill>
              <a:srgbClr val="2C44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0700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699.000 TL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0700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0700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29.900 TL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4846320" cy="3017520"/>
          </a:xfrm>
          <a:prstGeom prst="rect">
            <a:avLst/>
          </a:prstGeom>
          <a:solidFill>
            <a:srgbClr val="0E2E46"/>
          </a:solidFill>
          <a:ln/>
        </p:spPr>
      </p:sp>
      <p:sp>
        <p:nvSpPr>
          <p:cNvPr id="14" name="Shape 12"/>
          <p:cNvSpPr/>
          <p:nvPr/>
        </p:nvSpPr>
        <p:spPr>
          <a:xfrm rot="2700000">
            <a:off x="6574615" y="2624407"/>
            <a:ext cx="530194" cy="53019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543800" y="2889504"/>
            <a:ext cx="3063240" cy="0"/>
          </a:xfrm>
          <a:prstGeom prst="line">
            <a:avLst/>
          </a:prstGeom>
          <a:noFill/>
          <a:ln w="9525">
            <a:solidFill>
              <a:srgbClr val="2C44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1052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999.000 TL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51052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40" kern="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51052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39.900 TL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solidFill>
            <a:srgbClr val="E6DCC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spc="220" kern="0" dirty="0">
                <a:solidFill>
                  <a:srgbClr val="8A6B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  ·  VADE FARKSIZ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6272784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Fiyatlar ve kampanya koşulları dönemsel olarak değişebilir. Güncel bilgi için satış ofisiyle iletişime geçiniz.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SÜRECİ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PEŞİNATTAN TAPUYA DÖRT ADIM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3493008"/>
            <a:ext cx="9281160" cy="0"/>
          </a:xfrm>
          <a:prstGeom prst="line">
            <a:avLst/>
          </a:prstGeom>
          <a:noFill/>
          <a:ln w="15875">
            <a:solidFill>
              <a:srgbClr val="C9A961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322155" y="2894923"/>
            <a:ext cx="1196170" cy="1196170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441772" y="3014540"/>
            <a:ext cx="956936" cy="956936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8" name="Image 0" descr="/home/user/miaparkocean/sunum/kaynak/sekil/i-banknot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661" y="3205429"/>
            <a:ext cx="575158" cy="5751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8580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Peşinat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Avantajlı peşinatla başlar; kalan tutar 60 aya kadar taksitlenir.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 rot="2700000">
            <a:off x="4111075" y="2894923"/>
            <a:ext cx="1196170" cy="1196170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4230692" y="3014540"/>
            <a:ext cx="956936" cy="956936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14" name="Image 1" descr="/home/user/miaparkocean/sunum/kaynak/sekil/i-takvim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581" y="3205429"/>
            <a:ext cx="575158" cy="5751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47472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Sabit taksit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47472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Faiz yok, kefil yok, banka yok; ara ödeme ve balon taksit yok.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 rot="2700000">
            <a:off x="6899995" y="2894923"/>
            <a:ext cx="1196170" cy="1196170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7019612" y="3014540"/>
            <a:ext cx="956936" cy="956936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20" name="Image 2" descr="/home/user/miaparkocean/sunum/kaynak/sekil/i-bina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501" y="3205429"/>
            <a:ext cx="575158" cy="57515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6364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26364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ve takip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Ödemeler ve inşaat aşamaları KOOPBİS üzerinden izlenir.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 rot="2700000">
            <a:off x="9688915" y="2894923"/>
            <a:ext cx="1196170" cy="1196170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9808532" y="3014540"/>
            <a:ext cx="956936" cy="956936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26" name="Image 3" descr="/home/user/miaparkocean/sunum/kaynak/sekil/i-anahtar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9421" y="3205429"/>
            <a:ext cx="575158" cy="57515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5256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b="1" spc="2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04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905256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05256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bitince ferdileşme ile daire adınıza tapuya bağlanır.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822960" y="6144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 sorusu mutlaka gelir: ferdileşme, inşaat bitiminde.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SAHA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MÜŞTERİYE 60 SANİYEDE NASIL ANLATILIR?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5415" y="2338455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22860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08760" y="2304288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“Proje, İzmit'in gelişen MİA Bölgesi'nde.”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907792"/>
            <a:ext cx="10543032" cy="0"/>
          </a:xfrm>
          <a:prstGeom prst="line">
            <a:avLst/>
          </a:prstGeom>
          <a:noFill/>
          <a:ln w="7620">
            <a:solidFill>
              <a:srgbClr val="1E3A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75415" y="3124839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0723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3090672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“D100'e 1 dakika, sahile 2 dakika.”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694176"/>
            <a:ext cx="10543032" cy="0"/>
          </a:xfrm>
          <a:prstGeom prst="line">
            <a:avLst/>
          </a:prstGeom>
          <a:noFill/>
          <a:ln w="7620">
            <a:solidFill>
              <a:srgbClr val="1E3A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75415" y="3911223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8587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08760" y="387705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“Ağırlıklı olarak yatırımcıya uygun 1+0 ve 1+1 daireler var.”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7620">
            <a:solidFill>
              <a:srgbClr val="1E3A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75415" y="4697607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46451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08760" y="466344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“Bankasız, faizsiz ve kefilsiz 60 aya kadar ödeme modeli bulunuyor.”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10543032" cy="0"/>
          </a:xfrm>
          <a:prstGeom prst="line">
            <a:avLst/>
          </a:prstGeom>
          <a:noFill/>
          <a:ln w="7620">
            <a:solidFill>
              <a:srgbClr val="1E3A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875415" y="5483991"/>
            <a:ext cx="297426" cy="29742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54315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54498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“İstanbul'a yakınlığıyla yalnız İzmit'e değil, Marmara yatırımcısına da hitap ediyor.”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Shape 23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A79C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A79C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İTİRAZ YÖNETİMİ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SORARSA NE SÖYLEYECEĞİZ?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56208" y="2392400"/>
            <a:ext cx="116384" cy="11638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26771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“Kooperatif modeli güvenli mi?”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120640" y="228600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Proje, 1163 sayılı Kooperatifler Kanunu çerçevesinde faaliyet gösterir; resmî kayıtlar T.C. Ticaret Bakanlığı'nın KOOPBİS sisteminde tutulur.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22960" y="3072384"/>
            <a:ext cx="10543032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56208" y="3325088"/>
            <a:ext cx="116384" cy="11638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2004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 kredisi gerekiyor mu?”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3218688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Hayır. Proje kendi tasarrufa dayalı ödeme modelini sunar; banka, faiz ve kefil devrede değildir.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4005072"/>
            <a:ext cx="10543032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56208" y="4257776"/>
            <a:ext cx="116384" cy="11638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1330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“Konum gerçekten merkezi mi?”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4151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1 dakika, İzmit Sahili 2 dakika, 41 Burada AVM 3 dakika, şehir merkezi 5 dakika.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56208" y="5190464"/>
            <a:ext cx="116384" cy="11638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506577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i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“Yatırım için neden 1+0 / 1+1?”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5084064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daireler daha geniş kiracı ve yatırımcı segmentine hitap eder; kiralama hızlanır, likidite artar.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22960" y="6144768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Bilgilendirme amaçlıdır; yasal veya finansal garanti niteliği taşımaz. Belgeler satış ofisinden talep edilebilir.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SATIŞTA EN GÜÇLÜ</a:t>
            </a:r>
            <a:endParaRPr lang="en-US" sz="27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UNSUR: GÜVEN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FC0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Emlakçının müşterisine karşı arkasında duracağı zemin: kayıtlı, denetlenen, belgeli bir yapı.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8" name="Image 0" descr="/home/user/miaparkocean/sunum/kaynak/sekil/e-gu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Shape 7"/>
          <p:cNvSpPr/>
          <p:nvPr/>
        </p:nvSpPr>
        <p:spPr>
          <a:xfrm>
            <a:off x="5440680" y="1298448"/>
            <a:ext cx="18288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1133856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S.S. Yahya Kaptan Birlik Yapı Kooperatifi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06440" y="14630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Projeyi geliştiren yapı kooperatifi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40680" y="1938528"/>
            <a:ext cx="589788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40680" y="2340864"/>
            <a:ext cx="18288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06440" y="217627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T.C. Ticaret Bakanlığı — KOOPBİS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06440" y="2505456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Kooperatif Bilgi Sistemi'nde kayıtlı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40680" y="2980944"/>
            <a:ext cx="589788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40680" y="3383280"/>
            <a:ext cx="18288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06440" y="321868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1163 Sayılı Kooperatifler Kanunu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06440" y="3547872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Kuruluş, genel kurul ve denetim bu kanuna tabi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40680" y="4023360"/>
            <a:ext cx="5897880" cy="0"/>
          </a:xfrm>
          <a:prstGeom prst="line">
            <a:avLst/>
          </a:prstGeom>
          <a:noFill/>
          <a:ln w="7620">
            <a:solidFill>
              <a:srgbClr val="E6DCC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40680" y="4425696"/>
            <a:ext cx="18288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06440" y="426110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Gayrimenkul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06440" y="459028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yetkili satıcı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40680" y="5394960"/>
            <a:ext cx="589788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1" descr="/home/user/miaparkocean/public/ykb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5504688"/>
            <a:ext cx="438912" cy="438912"/>
          </a:xfrm>
          <a:prstGeom prst="rect">
            <a:avLst/>
          </a:prstGeom>
        </p:spPr>
      </p:pic>
      <p:pic>
        <p:nvPicPr>
          <p:cNvPr id="27" name="Image 2" descr="/home/user/miaparkocean/public/koopbis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5559552"/>
            <a:ext cx="1143000" cy="347472"/>
          </a:xfrm>
          <a:prstGeom prst="rect">
            <a:avLst/>
          </a:prstGeom>
        </p:spPr>
      </p:pic>
      <p:pic>
        <p:nvPicPr>
          <p:cNvPr id="28" name="Image 3" descr="/home/user/miaparkocean/public/ticaret-bakanligi-logo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5504688"/>
            <a:ext cx="438912" cy="43891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40680" y="6181344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i="1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Belgeler satış ofisinden talep edilebilir.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İŞ BİRLİĞİ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EMLAKÇIYLA NASIL ÇALIŞIYORUZ?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3401568"/>
            <a:ext cx="9738360" cy="0"/>
          </a:xfrm>
          <a:prstGeom prst="line">
            <a:avLst/>
          </a:prstGeom>
          <a:noFill/>
          <a:ln w="15875">
            <a:solidFill>
              <a:srgbClr val="C9A961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099102" y="2900470"/>
            <a:ext cx="1002197" cy="100219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199321" y="3000689"/>
            <a:ext cx="801757" cy="801757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8" name="Image 0" descr="/home/user/miaparkocean/sunum/kaynak/sekil/i-belge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9256" y="3160624"/>
            <a:ext cx="481889" cy="4818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Kayıt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 kaydı ve yetki belgesi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 rot="2700000">
            <a:off x="3366814" y="2900470"/>
            <a:ext cx="1002197" cy="100219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3467033" y="3000689"/>
            <a:ext cx="801757" cy="801757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14" name="Image 1" descr="/home/user/miaparkocean/sunum/kaynak/sekil/i-mail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8" y="3160624"/>
            <a:ext cx="481889" cy="48188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62072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2862072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Bildirim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2862072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ofise gelmeden bildirilir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 rot="2700000">
            <a:off x="5634526" y="2900470"/>
            <a:ext cx="1002197" cy="100219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5734745" y="3000689"/>
            <a:ext cx="801757" cy="801757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20" name="Image 2" descr="/home/user/miaparkocean/sunum/kaynak/sekil/i-balon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80" y="3160624"/>
            <a:ext cx="481889" cy="48188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9784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5129784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Görüşme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129784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ofisinde birlikte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 rot="2700000">
            <a:off x="7902238" y="2900470"/>
            <a:ext cx="1002197" cy="100219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8002457" y="3000689"/>
            <a:ext cx="801757" cy="801757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26" name="Image 3" descr="/home/user/miaparkocean/sunum/kaynak/sekil/i-kalem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92" y="3160624"/>
            <a:ext cx="481889" cy="481889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97496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7397496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Sözleşme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7397496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Ortaklık işlemleri ve peşinat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 rot="2700000">
            <a:off x="10169950" y="2900470"/>
            <a:ext cx="1002197" cy="100219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 rot="2700000">
            <a:off x="10270169" y="3000689"/>
            <a:ext cx="801757" cy="801757"/>
          </a:xfrm>
          <a:prstGeom prst="rect">
            <a:avLst/>
          </a:prstGeom>
          <a:solidFill>
            <a:srgbClr val="06192B"/>
          </a:solidFill>
          <a:ln/>
        </p:spPr>
      </p:sp>
      <p:pic>
        <p:nvPicPr>
          <p:cNvPr id="32" name="Image 4" descr="/home/user/miaparkocean/sunum/kaynak/sekil/i-banknot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0104" y="3160624"/>
            <a:ext cx="481889" cy="48188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665208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b="1" spc="24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50" dirty="0"/>
          </a:p>
        </p:txBody>
      </p:sp>
      <p:sp>
        <p:nvSpPr>
          <p:cNvPr id="34" name="Text 27"/>
          <p:cNvSpPr/>
          <p:nvPr/>
        </p:nvSpPr>
        <p:spPr>
          <a:xfrm>
            <a:off x="9665208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Hakediş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9665208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ödemesi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822960" y="5614416"/>
            <a:ext cx="10543032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1097280" y="57241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b="1" spc="200" kern="0" dirty="0">
                <a:solidFill>
                  <a:srgbClr val="8A6B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SUNUMDAN ÖNCE NETLEŞTİRİN</a:t>
            </a:r>
            <a:endParaRPr lang="en-US" sz="800" dirty="0"/>
          </a:p>
        </p:txBody>
      </p:sp>
      <p:sp>
        <p:nvSpPr>
          <p:cNvPr id="38" name="Text 31"/>
          <p:cNvSpPr/>
          <p:nvPr/>
        </p:nvSpPr>
        <p:spPr>
          <a:xfrm>
            <a:off x="1097280" y="59618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oranı  ______        Hakediş zamanı  ______        Müşteri koruma süresi  ______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DESTEĞİ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ELİNİZE NE VERİYORUZ?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435442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3408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bilbord tasarımı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rot="2700000">
            <a:off x="4090506" y="2435442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3408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arsa panosu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300237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29077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Roll-up ve totem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2700000">
            <a:off x="4090506" y="3002370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688" y="29077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Yaka kartları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569298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4747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Dijital katalog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090506" y="3569298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6" name="Text 14"/>
          <p:cNvSpPr/>
          <p:nvPr/>
        </p:nvSpPr>
        <p:spPr>
          <a:xfrm>
            <a:off x="4361688" y="34747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413622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041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Sosyal medya seti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090506" y="4136226"/>
            <a:ext cx="103453" cy="103453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0" name="Text 18"/>
          <p:cNvSpPr/>
          <p:nvPr/>
        </p:nvSpPr>
        <p:spPr>
          <a:xfrm>
            <a:off x="4361688" y="4041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Tanıtım filmi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6492240" cy="786384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15568" y="4754880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Hepsi baskıya hazır dosya olarak paylaşılır. Bugün en az katalog ve site linki elinizde olsun.</a:t>
            </a:r>
            <a:endParaRPr lang="en-US" sz="1050" dirty="0"/>
          </a:p>
        </p:txBody>
      </p:sp>
      <p:pic>
        <p:nvPicPr>
          <p:cNvPr id="23" name="Image 0" descr="/home/user/miaparkocean/sunum/kaynak/foto/m-bilb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1005840"/>
            <a:ext cx="3566160" cy="2139696"/>
          </a:xfrm>
          <a:prstGeom prst="rect">
            <a:avLst/>
          </a:prstGeom>
        </p:spPr>
      </p:pic>
      <p:pic>
        <p:nvPicPr>
          <p:cNvPr id="24" name="Image 1" descr="/home/user/miaparkocean/sunum/kaynak/foto/m-roll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3310128"/>
            <a:ext cx="1188720" cy="2377440"/>
          </a:xfrm>
          <a:prstGeom prst="rect">
            <a:avLst/>
          </a:prstGeom>
        </p:spPr>
      </p:pic>
      <p:pic>
        <p:nvPicPr>
          <p:cNvPr id="25" name="Image 2" descr="/home/user/miaparkocean/sunum/kaynak/foto/m-ars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3310128"/>
            <a:ext cx="2212848" cy="1481328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9334724" y="5219924"/>
            <a:ext cx="258631" cy="258631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7" name="Text 22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gal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464808" cy="3127248"/>
          </a:xfrm>
          <a:prstGeom prst="rect">
            <a:avLst/>
          </a:prstGeom>
        </p:spPr>
      </p:pic>
      <p:pic>
        <p:nvPicPr>
          <p:cNvPr id="3" name="Image 1" descr="/home/user/miaparkocean/sunum/kaynak/foto/gal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0"/>
            <a:ext cx="2788920" cy="3127248"/>
          </a:xfrm>
          <a:prstGeom prst="rect">
            <a:avLst/>
          </a:prstGeom>
        </p:spPr>
      </p:pic>
      <p:pic>
        <p:nvPicPr>
          <p:cNvPr id="4" name="Image 2" descr="/home/user/miaparkocean/sunum/kaynak/foto/gal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0"/>
            <a:ext cx="2788920" cy="3127248"/>
          </a:xfrm>
          <a:prstGeom prst="rect">
            <a:avLst/>
          </a:prstGeom>
        </p:spPr>
      </p:pic>
      <p:pic>
        <p:nvPicPr>
          <p:cNvPr id="5" name="Image 3" descr="/home/user/miaparkocean/sunum/kaynak/foto/gal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00400"/>
            <a:ext cx="2788920" cy="3127248"/>
          </a:xfrm>
          <a:prstGeom prst="rect">
            <a:avLst/>
          </a:prstGeom>
        </p:spPr>
      </p:pic>
      <p:pic>
        <p:nvPicPr>
          <p:cNvPr id="6" name="Image 4" descr="/home/user/miaparkocean/sunum/kaynak/foto/gal-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072" y="3200400"/>
            <a:ext cx="2788920" cy="3127248"/>
          </a:xfrm>
          <a:prstGeom prst="rect">
            <a:avLst/>
          </a:prstGeom>
        </p:spPr>
      </p:pic>
      <p:pic>
        <p:nvPicPr>
          <p:cNvPr id="7" name="Image 5" descr="/home/user/miaparkocean/sunum/kaynak/foto/gal-6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144" y="3200400"/>
            <a:ext cx="6464808" cy="312724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822960" y="645566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00" spc="26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PROJE GÖRSELLERİ</a:t>
            </a:r>
            <a:endParaRPr lang="en-US" sz="800" dirty="0"/>
          </a:p>
        </p:txBody>
      </p:sp>
      <p:sp>
        <p:nvSpPr>
          <p:cNvPr id="9" name="Text 1"/>
          <p:cNvSpPr/>
          <p:nvPr/>
        </p:nvSpPr>
        <p:spPr>
          <a:xfrm>
            <a:off x="6796735" y="645566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00" spc="12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Görseller projenin kendi render'larıdır.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ÖZET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RAKAMLARLA MİA PARK OCEAN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98140" y="258063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28016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80160" y="349300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4464300" y="258063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84632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349300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030460" y="258063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839419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1248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412480" y="349300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98140" y="436371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126187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128016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527608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4464300" y="436371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20"/>
          <p:cNvSpPr/>
          <p:nvPr/>
        </p:nvSpPr>
        <p:spPr>
          <a:xfrm>
            <a:off x="482803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484632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527608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030460" y="4363716"/>
            <a:ext cx="142247" cy="142247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6" name="Text 24"/>
          <p:cNvSpPr/>
          <p:nvPr/>
        </p:nvSpPr>
        <p:spPr>
          <a:xfrm>
            <a:off x="839419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841248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E0CB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412480" y="5276088"/>
            <a:ext cx="2651760" cy="0"/>
          </a:xfrm>
          <a:prstGeom prst="line">
            <a:avLst/>
          </a:prstGeom>
          <a:noFill/>
          <a:ln w="9525">
            <a:solidFill>
              <a:srgbClr val="1E3A5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0" name="Shape 28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C9A9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A79C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220" kern="0" dirty="0">
                <a:solidFill>
                  <a:srgbClr val="A79C8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20" kern="0" dirty="0">
                <a:solidFill>
                  <a:srgbClr val="C9A9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SONUÇ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spc="6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MİA PARK OCEAN?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59152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D100'e 1 dk, merkeze 5 dk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89120" y="2359152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Gelişen MİA Bölgesi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İzmit'in yeni değer aksı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955280" y="2359152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Derin kompakt stok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 1+0, 112 adet 1+1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Erişilebilir ödeme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 peşinat, 60 ay vade farksız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müşteri profili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Beş ayrı alıcı segmenti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955280" y="3657600"/>
            <a:ext cx="3200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 güven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E63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KOOPBİS kayıtlı, kanuna tabi yapı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solidFill>
            <a:srgbClr val="06192B"/>
          </a:solidFill>
          <a:ln/>
        </p:spPr>
      </p:sp>
      <p:sp>
        <p:nvSpPr>
          <p:cNvPr id="24" name="Text 22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b="1" spc="1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DOĞRU KONUM.  DOĞRU ÜRÜN.  GÜÇLÜ SATIŞ HİKÂYESİ.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0" y="6473952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spc="200" kern="0" dirty="0">
                <a:solidFill>
                  <a:srgbClr val="9A90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  ·  OCEAN GAYRİMENKUL, TEK YETKİLİ SATICI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8122390" y="1492990"/>
            <a:ext cx="2683301" cy="2683301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8359123" y="1455403"/>
            <a:ext cx="2484154" cy="2484154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4" name="Image 0" descr="/home/user/miaparkocean/sunum/kaynak/sekil/e-kapani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143000"/>
            <a:ext cx="310896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6795011" y="4051811"/>
            <a:ext cx="1680457" cy="1680457"/>
          </a:xfrm>
          <a:prstGeom prst="rect">
            <a:avLst/>
          </a:prstGeom>
          <a:ln w="12700">
            <a:solidFill>
              <a:srgbClr val="C9A961"/>
            </a:solidFill>
            <a:prstDash val="solid"/>
          </a:ln>
        </p:spPr>
      </p:sp>
      <p:pic>
        <p:nvPicPr>
          <p:cNvPr id="6" name="Image 1" descr="/home/user/miaparkocean/sunum/kaynak/sekil/e-kapani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840480"/>
            <a:ext cx="2103120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985715" y="4539195"/>
            <a:ext cx="614250" cy="614250"/>
          </a:xfrm>
          <a:prstGeom prst="rect">
            <a:avLst/>
          </a:prstGeom>
          <a:solidFill>
            <a:srgbClr val="0E2E46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6722219" y="1098659"/>
            <a:ext cx="271563" cy="271563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9" name="Image 2" descr="/home/user/miaparkocean/public/brand/logo-ocea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31720" cy="1600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C9A961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2761488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İZMİT'İN YENİ SATIŞ FIRSATINI</a:t>
            </a:r>
            <a:endParaRPr lang="en-US" sz="2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200" b="1" spc="60" kern="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PORTFÖYÜNÜZE EKLEYİN.</a:t>
            </a:r>
            <a:endParaRPr lang="en-US" sz="2200" dirty="0"/>
          </a:p>
        </p:txBody>
      </p:sp>
      <p:pic>
        <p:nvPicPr>
          <p:cNvPr id="12" name="Image 3" descr="/home/user/miaparkocean/sunum/kaynak/sekil/i-telefon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15384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61872" y="41879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0540 028 00 41  ·  0541 128 40 41</a:t>
            </a:r>
            <a:endParaRPr lang="en-US" sz="1150" dirty="0"/>
          </a:p>
        </p:txBody>
      </p:sp>
      <p:pic>
        <p:nvPicPr>
          <p:cNvPr id="14" name="Image 4" descr="/home/user/miaparkocean/sunum/kaynak/sekil/i-mail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672584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618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info@oceangayrimenkul41.com</a:t>
            </a:r>
            <a:endParaRPr lang="en-US" sz="1150" dirty="0"/>
          </a:p>
        </p:txBody>
      </p:sp>
      <p:pic>
        <p:nvPicPr>
          <p:cNvPr id="16" name="Image 5" descr="/home/user/miaparkocean/sunum/kaynak/sekil/i-globe-beyaz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29784"/>
            <a:ext cx="274320" cy="27432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261872" y="51023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150" dirty="0"/>
          </a:p>
        </p:txBody>
      </p:sp>
      <p:pic>
        <p:nvPicPr>
          <p:cNvPr id="18" name="Image 6" descr="/home/user/miaparkocean/sunum/kaynak/sekil/i-insta-beyaz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586984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261872" y="55595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@miaparkocean</a:t>
            </a:r>
            <a:endParaRPr lang="en-US" sz="1150" dirty="0"/>
          </a:p>
        </p:txBody>
      </p:sp>
      <p:sp>
        <p:nvSpPr>
          <p:cNvPr id="20" name="Shape 11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2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spc="120" kern="0" dirty="0">
                <a:solidFill>
                  <a:srgbClr val="061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EKİBİMİZLE İLETİŞİME GEÇİN</a:t>
            </a:r>
            <a:endParaRPr lang="en-US" sz="1000" dirty="0"/>
          </a:p>
        </p:txBody>
      </p:sp>
      <p:sp>
        <p:nvSpPr>
          <p:cNvPr id="22" name="Text 13"/>
          <p:cNvSpPr/>
          <p:nvPr/>
        </p:nvSpPr>
        <p:spPr>
          <a:xfrm>
            <a:off x="4617720" y="647395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750" spc="16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  ·  S.S. YAHYA KAPTAN BİRLİK YAPI KOOPERATİFİ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MİA PARK OCEAN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MİA PARK OCEAN — Emlakçı Sunumu</dc:title>
  <dc:subject>İzmit MİA Bölgesi · Broker Presentation</dc:subject>
  <dc:creator>Ocean Gayrimenkul</dc:creator>
  <cp:lastModifiedBy>Ocean Gayrimenkul</cp:lastModifiedBy>
  <cp:revision>1</cp:revision>
  <dcterms:created xsi:type="dcterms:W3CDTF">2026-08-20T19:25:09Z</dcterms:created>
  <dcterms:modified xsi:type="dcterms:W3CDTF">2026-08-20T19:25:09Z</dcterms:modified>
</cp:coreProperties>
</file>