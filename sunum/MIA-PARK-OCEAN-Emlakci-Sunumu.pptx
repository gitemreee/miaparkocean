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Kendinizi ve Ocean Gayrimenkul'ü tanıtın. Bu sunum bir konut kataloğu değil; bugün emlakçıya 'bu projeyi neden portföyüne almalı' sorusunun cevabını veriyoruz. Süre 20 dakika, sonrasında soru-cevap.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Projeyi 30 saniyede anlatın: 600 konut, İzmit MİA Bölgesi, 60 aya kadar vade farksız ödeme, ağırlıklı olarak 1+0 ve 1+1. Emlakçı bu dört rakamı aklında tutsun.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sunumun tezi. Emlakçı 'güzel proje' duymaktan sıkılmıştır; ona satılabilirlik argümanı verin. Dördüncü maddede materyal desteğini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Mesafeleri ezberleyin; en çok D100 ve şehir hastanesi sorulur. Diyagramda ışın uzunluğu süreyle orantılı, yani göz otomatik olarak en yakınları görüyor. İzmit Sahili süresi teyide açık, kesin konuşmayın.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MİA kısaltmasını mutlaka açın; emlakçıların çoğu bilmiyor. DİKKAT: 'kesin değer artışı' demeyin. 'Potansiyel', 'gelişim aksı', 'yatırım çekiciliği' deyin.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yönlü anlatı: İzmit yatırımcısına merkeziyet, İstanbul yatırımcısına bütçe. Marmara yatırımcısı bu projenin ikinci müşteri havuzu — emlakçıya bunu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DİKKAT: Projede yüzme havuzu YOK. Sudaki öğeler peyzaj amaçlı süs havuzu ve su aksı. Yüzme havuzu sözü verilirse teslimde sorun çıkar.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584 dairenin ikisi de kompakt. Emlakçı için bu şu demek: tek bir müşteri profiline değil, çok geniş bir havuza satabilirsiniz. Bu slaytta 2+1'den söz etmiyoruz.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profili sırayla okuyun ve her birinde emlakçıya sorun: portföyünüzde böyle kaç müşteri var? Salonda isim çıkarsa satış başlamış demektir.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en güçlü slaydı. Emlakçı buradan tek cümle götürsün: bankaya gitmeden, faiz ödemeden, kefil bulmadan ev. Kredisi çıkmayan müşteri artık kayıp müşteri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Rakamları verirken mutlaka dipnotu da söyleyin: fiyat ve kampanya koşulları dönemseldir. Yazılı teklif satış ofisinden çıkar.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beş cümleyi emlakçıya ezberletin. Sırası önemli: konum, mesafe, ürün, ödeme, pazar. Beşinci cümle projeyi İzmit'in dışına açıyor.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soru en çok gelen soru. KOOPBİS'i telefonda canlı gösterin — en ikna edici hamle. Yasal ya da finansal garanti cümlesi KURMAYIN.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 ve kurumsal anlatın. Emlakçının müşterisine karşı arkasında duracağı zemin bu slayt. Belgeleri gösterme sözü verin ve tutun.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konuşmayın, bıraktırın. Gerekirse tek cümle: 'Bunların hepsi projenin kendi görselleri.' Sudaki öğeler süs havuzu.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Kapanıştan önce özet. Altı maddeyi tek tek okumayın; emlakçının aklında kalması gereken üç kelimeyi söyleyin: konum, ürün, hikâye.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net çağrı yapın. Kayıt formunu dağıtın; bugün kaydolan emlakçıya katalog, görsel seti ve fiyat listesini akşam gönderin. Randevu almadan salondan çıkarmayın.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tam-kapa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iaparkocean/sunum/kaynak/perde-kapa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miaparkocean/public/brand/logo-oce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3383280" cy="231343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68680" y="54132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68680" y="56144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İZMİT MİA BÖLGESİ</a:t>
            </a:r>
            <a:endParaRPr lang="en-US" sz="950" dirty="0"/>
          </a:p>
        </p:txBody>
      </p:sp>
      <p:sp>
        <p:nvSpPr>
          <p:cNvPr id="7" name="Text 2"/>
          <p:cNvSpPr/>
          <p:nvPr/>
        </p:nvSpPr>
        <p:spPr>
          <a:xfrm>
            <a:off x="868680" y="59253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Emlakçılar İçin Yeni Bir Satış Fırsatı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6751015" y="6382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OCEAN GAYRİMENKUL — TEK YETKİLİ SATICI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yar-oz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655" y="0"/>
            <a:ext cx="48920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 ÖZETİ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68680" y="1133856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MİA PARK OCEAN</a:t>
            </a:r>
            <a:endParaRPr lang="en-US" sz="4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Nedir?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68680" y="2889504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218688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600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68680" y="4023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Konut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68680" y="4334256"/>
            <a:ext cx="2651760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0" y="3218688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 AY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931920" y="4023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Vade farksız ödeme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31920" y="4334256"/>
            <a:ext cx="2651760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1713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584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68680" y="5321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1+0 ve 1+1 stok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8680" y="5632704"/>
            <a:ext cx="2651760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0" y="451713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MİA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3931920" y="5321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spc="140" kern="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İzmit Merkezi İş Alanı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31920" y="5632704"/>
            <a:ext cx="2651760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81558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F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OCEAN, İzmit'in gelişen merkezi iş alanında konumlanan; yatırım ve yaşam talebini aynı noktada buluşturan modern konut projesidir.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64190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İZMİT MİA BÖLGESİ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PORTFÖY DEĞERLENDİRMESİ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10460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Satılması Kolay Bir Ürün Neden Oluşur?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231136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0662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Merkezi lokasyon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26110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Müşteriye konumu anlatmak kolay. Dakika bazlı mesafeler tek cümlede aktarılır.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82696" y="2743200"/>
            <a:ext cx="0" cy="233172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70662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57016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Kompakt daire seçenekleri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426110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Daha geniş yatırımcı kitlesine hitap eder. Giriş bütçesi düşer, talep genişler.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71032" y="2743200"/>
            <a:ext cx="0" cy="233172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70662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45352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Uzun vadeli ödeme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5352" y="426110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Alıcının giriş bariyerini azaltır. Kredisi çıkmayan müşteri portföyde kalır.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59368" y="2743200"/>
            <a:ext cx="0" cy="233172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270662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33688" y="35478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Güçlü proje görselliği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33688" y="426110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Sunum ve dijital satışta yüksek algı oluşturur. Materyal hazır gelir.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0E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900" i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İyi proje yalnızca güzel değildir; doğru müşteriye kolay anlatılabilir.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İzmit'in Yeni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Değer Aksı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907792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Günlük yaşam, ulaşım, sağlık, eğitim ve alışveriş birkaç dakikalık erişim alanında.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5669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Işınların uzunluğu süreyle orantılıdır.</a:t>
            </a:r>
            <a:endParaRPr lang="en-US" sz="850" dirty="0"/>
          </a:p>
        </p:txBody>
      </p:sp>
      <p:pic>
        <p:nvPicPr>
          <p:cNvPr id="7" name="Image 0" descr="/home/user/miaparkocean/sunum/kaynak/info-ko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960120"/>
            <a:ext cx="576072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318759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MİA PARK</a:t>
            </a:r>
            <a:endParaRPr lang="en-US" sz="11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OCEAN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2050405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D100 Karayolu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909560" y="226986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 dk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78302" y="22960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İzmit Sahili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578302" y="2515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 dk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71156" y="318759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 Burada AVM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071156" y="340705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dk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840458" y="4341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Şehir Merkezi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840458" y="456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dk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09560" y="4819117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Şehir Hastanesi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909560" y="503857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dk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78662" y="4341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 Otoyolu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78662" y="456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dk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53639" y="318759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Symbol AVM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253639" y="340705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 dk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541737" y="1597015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Kocaeli Üniversitesi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541737" y="181647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 dk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68680" y="64190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A79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İZMİT MİA BÖLGESİ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yar-m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8255" y="0"/>
            <a:ext cx="46634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BÖLGE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68680" y="113385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MİA Neden Önemli?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68680" y="20848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MİA, Merkezi İş Alanı demektir: bir şehrin ofis, ticaret ve hizmet fonksiyonlarının yoğunlaşması için planlanan bölge.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68680" y="2889504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32004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916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Yeni ticari merkez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35661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Ofis, ticaret ve hizmet fonksiyonlarının yoğunlaşacağı bölge.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9164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Yeni yaşam aksı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691640" y="4572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Yeni konut ve karma kullanımlı projelerin geliştiği bölge.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8680" y="521208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91640" y="5193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Değerlenme potansiyeli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91640" y="55778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Altyapı ve ticari hareketlilik arttıkça bölgenin yatırım çekiciliği artar.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68680" y="6345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Bölgesel gelişim bir potansiyeldir; değer artışı taahhüdü değildir.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İstanbul'a Yakın, İzmit'in Merkezinde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231136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15184"/>
            <a:ext cx="4956048" cy="1810512"/>
          </a:xfrm>
          <a:prstGeom prst="rect">
            <a:avLst/>
          </a:prstGeom>
          <a:solidFill>
            <a:srgbClr val="0E2E46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962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İZMİT YATIRIMCISI İÇİN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9304" y="327355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Şehrin gelişen yeni merkezinde konum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64224" y="2615184"/>
            <a:ext cx="4956048" cy="1810512"/>
          </a:xfrm>
          <a:prstGeom prst="rect">
            <a:avLst/>
          </a:prstGeom>
          <a:solidFill>
            <a:srgbClr val="E6DCCB"/>
          </a:solidFill>
          <a:ln/>
        </p:spPr>
      </p:sp>
      <p:sp>
        <p:nvSpPr>
          <p:cNvPr id="9" name="Text 7"/>
          <p:cNvSpPr/>
          <p:nvPr/>
        </p:nvSpPr>
        <p:spPr>
          <a:xfrm>
            <a:off x="6784848" y="2962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8A6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İSTANBUL YATIRIMCISI İÇİN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84848" y="327355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Anadolu Yakası'na kıyasla erişilebilir bütçe</a:t>
            </a:r>
            <a:endParaRPr lang="en-US" sz="1900" dirty="0"/>
          </a:p>
        </p:txBody>
      </p:sp>
      <p:pic>
        <p:nvPicPr>
          <p:cNvPr id="11" name="Image 0" descr="/home/user/miaparkocean/sunum/kaynak/info-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864608"/>
            <a:ext cx="10607040" cy="1188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117" y="5696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61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İstanbul Anadolu Yakası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37247" y="46542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MİA PARK OCEAN · İzmit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2171" y="56967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61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Sakarya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48722" y="5038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yaklaşık 1,5–2 saat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09749" y="5038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yaklaşık 45–60 dakika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tam-mimar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iaparkocean/sunum/kaynak/perde-mim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3968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MİMARİ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868680" y="4297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Modern ve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Zamansız Mimari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68680" y="596188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400800" y="4443984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0" y="43159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cephe dili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9235440" y="4443984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509760" y="43159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Geniş peyzaj alanları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0" y="4919472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0" y="47914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Süs havuzu ve su aksları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235440" y="4919472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0" y="47914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Düzenli site içi ulaşım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0" y="5394960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526694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Balkonlu daireler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235440" y="5394960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09760" y="526694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Güvenlikli site yaklaşımı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0" y="5870448"/>
            <a:ext cx="146304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5742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Gün ışığı odaklı cepheler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0" y="6108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Projedeki su öğeleri peyzaj amaçlı süs havuzu ve su akslarıdır.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ÜRÜN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Satışın Omurgası: 1+0 ve 1+1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2128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pic>
        <p:nvPicPr>
          <p:cNvPr id="5" name="Image 0" descr="/home/user/miaparkocean/sunum/kaynak/foto/urun-1plus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96896"/>
            <a:ext cx="4846320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4928616"/>
            <a:ext cx="4846320" cy="1316736"/>
          </a:xfrm>
          <a:prstGeom prst="rect">
            <a:avLst/>
          </a:prstGeom>
          <a:solidFill>
            <a:srgbClr val="06192B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50840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1+0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88920" y="5029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788920" y="51755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472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234440" y="5797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Yatırım, kiralama ve kompakt yaşam talebine yönelik güçlü stok.</a:t>
            </a:r>
            <a:endParaRPr lang="en-US" sz="950" dirty="0"/>
          </a:p>
        </p:txBody>
      </p:sp>
      <p:pic>
        <p:nvPicPr>
          <p:cNvPr id="11" name="Image 1" descr="/home/user/miaparkocean/sunum/kaynak/foto/urun-1plus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596896"/>
            <a:ext cx="484632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9048" y="4928616"/>
            <a:ext cx="4846320" cy="1316736"/>
          </a:xfrm>
          <a:prstGeom prst="rect">
            <a:avLst/>
          </a:prstGeom>
          <a:solidFill>
            <a:srgbClr val="0E2E46"/>
          </a:solidFill>
          <a:ln/>
        </p:spPr>
      </p:sp>
      <p:sp>
        <p:nvSpPr>
          <p:cNvPr id="13" name="Text 9"/>
          <p:cNvSpPr/>
          <p:nvPr/>
        </p:nvSpPr>
        <p:spPr>
          <a:xfrm>
            <a:off x="6464808" y="50840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1+1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019288" y="5029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019288" y="51755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6464808" y="5797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 kişi, çiftler ve yatırımcı müşteriler için dengeli ürün.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68680" y="63642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A7F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Projenin ana satış gücü kompakt daire segmentidir.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yar-prof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0"/>
            <a:ext cx="37490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HEDEF KİTLE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68680" y="113385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 Projeyi Kime Satabilirsiniz?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68680" y="2615184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944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55064" y="29077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İlk kez konut alanlar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04104" y="29626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Düşük başlangıç bariyeri arayanlar.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8680" y="3493008"/>
            <a:ext cx="68031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758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55064" y="36393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Yatırımcılar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04104" y="36941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Kiralama potansiyeli olan kompakt konut arayanlar.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4224528"/>
            <a:ext cx="68031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07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55064" y="4370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İstanbul yatırımcıları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04104" y="44256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İstanbul dışında alternatif arayanlar.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8680" y="4956048"/>
            <a:ext cx="68031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1389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655064" y="5102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Çalışan profesyoneller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04104" y="51572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Merkezi ve ulaşımı kolay daire isteyenler.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" y="5687568"/>
            <a:ext cx="68031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870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655064" y="5833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Çocuğu üniversitede okuyan aileler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04104" y="58887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Kocaeli Üniversitesi ve şehir merkezine yakınlık arayanlar.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yar-ode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55" y="0"/>
            <a:ext cx="3977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FİNANSMAN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68680" y="1133856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Alıcının Önündeki Finansman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Engelini Azaltan Model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68680" y="276148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%30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686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spc="26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Peşinat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51960" y="31272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 AY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2519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spc="26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Vade farksız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4791456"/>
            <a:ext cx="6803136" cy="713232"/>
          </a:xfrm>
          <a:prstGeom prst="rect">
            <a:avLst/>
          </a:prstGeom>
          <a:solidFill>
            <a:srgbClr val="0E2E4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791456"/>
            <a:ext cx="6803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900" b="1" spc="140" kern="0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BANKA YOK   ·   FAİZ YOK   ·   KEFİL YOK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8680" y="5760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Tasarrufa dayalı finansman yaklaşımı sayesinde konut alımında banka kredisine alternatif bir ödeme modeli sunulur.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64190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A79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İZMİT MİA BÖLGESİ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568135" y="6419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A79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OCEAN GAYRİMENKUL — TEK YETKİLİ SATICI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ÖRNEK ÖDEME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Bugünkü Ödeme Örnekleri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2128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15184"/>
            <a:ext cx="4846320" cy="2688336"/>
          </a:xfrm>
          <a:prstGeom prst="rect">
            <a:avLst/>
          </a:prstGeom>
          <a:solidFill>
            <a:srgbClr val="06192B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8712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1+0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89304" y="3602736"/>
            <a:ext cx="4005072" cy="0"/>
          </a:xfrm>
          <a:prstGeom prst="line">
            <a:avLst/>
          </a:prstGeom>
          <a:noFill/>
          <a:ln w="9525">
            <a:solidFill>
              <a:srgbClr val="2C44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PEŞİNAT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9304" y="40233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699.000 TL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9304" y="4590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AYLIK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89304" y="47914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E0CB9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29.900 TL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099048" y="2615184"/>
            <a:ext cx="4846320" cy="2688336"/>
          </a:xfrm>
          <a:prstGeom prst="rect">
            <a:avLst/>
          </a:prstGeom>
          <a:solidFill>
            <a:srgbClr val="0E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28712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1+1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519672" y="3602736"/>
            <a:ext cx="4005072" cy="0"/>
          </a:xfrm>
          <a:prstGeom prst="line">
            <a:avLst/>
          </a:prstGeom>
          <a:noFill/>
          <a:ln w="9525">
            <a:solidFill>
              <a:srgbClr val="2C44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PEŞİNAT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19672" y="40233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999.000 TL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19672" y="4590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spc="24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AYLIK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19672" y="47914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E0CB9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39.900 TL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68680" y="5541264"/>
            <a:ext cx="10460736" cy="603504"/>
          </a:xfrm>
          <a:prstGeom prst="rect">
            <a:avLst/>
          </a:prstGeom>
          <a:solidFill>
            <a:srgbClr val="E6DCC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541264"/>
            <a:ext cx="10460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700" b="1" spc="200" kern="0" dirty="0">
                <a:solidFill>
                  <a:srgbClr val="8A6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 AY  ·  VADE FARKSIZ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6345936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Fiyatlar ve kampanya koşulları dönemsel olarak değişebilir. Güncel bilgi için satış ofisiyle iletişime geçiniz.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ser-argum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920240"/>
          </a:xfrm>
          <a:prstGeom prst="rect">
            <a:avLst/>
          </a:prstGeom>
        </p:spPr>
      </p:pic>
      <p:pic>
        <p:nvPicPr>
          <p:cNvPr id="3" name="Image 1" descr="/home/user/miaparkocean/sunum/kaynak/perde-ser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20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5669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SAHA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868680" y="87782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Müşteriye 60 Saniyede Nasıl Anlatılır?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868680" y="248716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55064" y="24688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“Proje İzmit'in gelişen MİA Bölgesi'nde.”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68680" y="3054096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327355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655064" y="325526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“D100'e 1 dakika, sahile 2 dakika.”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68680" y="3840480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405993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655064" y="404164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“Projede ağırlıklı olarak yatırımcıya uygun 1+0 ve 1+1 daireler var.”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68680" y="4626864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8463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655064" y="482803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“Bankasız, faizsiz ve kefilsiz 60 aya kadar ödeme modeli bulunuyor.”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68680" y="5413248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632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655064" y="561441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“İstanbul'a yakınlığı nedeniyle yalnız İzmit'e değil, Marmara yatırımcısına da hitap ediyor.”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68680" y="64190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İZMİT MİA BÖLGESİ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568135" y="6419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spc="22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OCEAN GAYRİMENKUL — TEK YETKİLİ SATICI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İTİRAZ YÖNETİMİ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Müşteri Sorarsa Ne Söyleyeceğiz?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2128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151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“Kooperatif modeli güvenli mi?”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29784" y="2633472"/>
            <a:ext cx="6199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Proje, 1163 sayılı Kooperatifler Kanunu çerçevesinde faaliyet gösteren bir yapı kooperatifi bünyesinde; resmî kayıtlar T.C. Ticaret Bakanlığı'nın KOOPBİS sisteminde tutulur.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3419856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844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“Banka kredisi gerekiyor mu?”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9784" y="3602736"/>
            <a:ext cx="6199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Hayır. Proje kendi tasarrufa dayalı ödeme modelini sunuyor; banka, faiz ve kefil devrede değil.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537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“Konum gerçekten merkezi mi?”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9784" y="4572000"/>
            <a:ext cx="6199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D100 1 dakika, İzmit Sahili 2 dakika, 41 Burada AVM 3 dakika, şehir merkezi 5 dakika.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5358384"/>
            <a:ext cx="10460736" cy="0"/>
          </a:xfrm>
          <a:prstGeom prst="line">
            <a:avLst/>
          </a:prstGeom>
          <a:noFill/>
          <a:ln w="9525">
            <a:solidFill>
              <a:srgbClr val="E6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5229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“Yatırım için neden 1+0 / 1+1?”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9784" y="5541264"/>
            <a:ext cx="6199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Kompakt daireler daha geniş kiracı ve yatırımcı segmentine hitap eder; kiralama süresi kısalır, likidite artar.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6400800"/>
            <a:ext cx="10460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Bilgilendirme amaçlıdır; yasal veya finansal garanti niteliği taşımaz. Belgeler satış ofisinden talep edilebilir.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yar-guv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55" y="0"/>
            <a:ext cx="39776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KURUMSAL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68680" y="1133856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Satışta En Güçlü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Unsur: Güven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68680" y="276148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3227832"/>
            <a:ext cx="164592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97864" y="30358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S.S. Yahya Kaptan Birlik Yapı Kooperatifi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97864" y="3383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Projeyi geliştiren yapı kooperatifi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164592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97864" y="3785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T.C. Ticaret Bakanlığı — KOOPBİS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97864" y="4133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Kooperatif Bilgi Sistemi'nde kayıtlı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68680" y="4727448"/>
            <a:ext cx="164592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97864" y="45354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1163 Sayılı Kooperatifler Kanunu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97864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Kuruluş, genel kurul ve denetim bu kanuna tabi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8680" y="5477256"/>
            <a:ext cx="164592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97864" y="52852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Ocean Gayrimenkul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97864" y="56327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 yetkili satıcı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8680" y="5943600"/>
            <a:ext cx="6803136" cy="566928"/>
          </a:xfrm>
          <a:prstGeom prst="rect">
            <a:avLst/>
          </a:prstGeom>
          <a:solidFill>
            <a:srgbClr val="F3EDE3"/>
          </a:solidFill>
          <a:ln/>
        </p:spPr>
      </p:sp>
      <p:pic>
        <p:nvPicPr>
          <p:cNvPr id="19" name="Image 1" descr="/home/user/miaparkocean/public/ykb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025896"/>
            <a:ext cx="402336" cy="402336"/>
          </a:xfrm>
          <a:prstGeom prst="rect">
            <a:avLst/>
          </a:prstGeom>
        </p:spPr>
      </p:pic>
      <p:pic>
        <p:nvPicPr>
          <p:cNvPr id="20" name="Image 2" descr="/home/user/miaparkocean/public/koopbis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6080760"/>
            <a:ext cx="1060704" cy="329184"/>
          </a:xfrm>
          <a:prstGeom prst="rect">
            <a:avLst/>
          </a:prstGeom>
        </p:spPr>
      </p:pic>
      <p:pic>
        <p:nvPicPr>
          <p:cNvPr id="21" name="Image 3" descr="/home/user/miaparkocean/public/ticaret-bakanligi-logo.web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602589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6601968"/>
            <a:ext cx="6803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6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Belgeler satış ofisinden talep edilebilir.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gal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64808" cy="3127248"/>
          </a:xfrm>
          <a:prstGeom prst="rect">
            <a:avLst/>
          </a:prstGeom>
        </p:spPr>
      </p:pic>
      <p:pic>
        <p:nvPicPr>
          <p:cNvPr id="3" name="Image 1" descr="/home/user/miaparkocean/sunum/kaynak/foto/gal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2788920" cy="3127248"/>
          </a:xfrm>
          <a:prstGeom prst="rect">
            <a:avLst/>
          </a:prstGeom>
        </p:spPr>
      </p:pic>
      <p:pic>
        <p:nvPicPr>
          <p:cNvPr id="4" name="Image 2" descr="/home/user/miaparkocean/sunum/kaynak/foto/gal-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0"/>
            <a:ext cx="2788920" cy="3127248"/>
          </a:xfrm>
          <a:prstGeom prst="rect">
            <a:avLst/>
          </a:prstGeom>
        </p:spPr>
      </p:pic>
      <p:pic>
        <p:nvPicPr>
          <p:cNvPr id="5" name="Image 3" descr="/home/user/miaparkocean/sunum/kaynak/foto/gal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0400"/>
            <a:ext cx="2788920" cy="3127248"/>
          </a:xfrm>
          <a:prstGeom prst="rect">
            <a:avLst/>
          </a:prstGeom>
        </p:spPr>
      </p:pic>
      <p:pic>
        <p:nvPicPr>
          <p:cNvPr id="6" name="Image 4" descr="/home/user/miaparkocean/sunum/kaynak/foto/gal-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3200400"/>
            <a:ext cx="2788920" cy="3127248"/>
          </a:xfrm>
          <a:prstGeom prst="rect">
            <a:avLst/>
          </a:prstGeom>
        </p:spPr>
      </p:pic>
      <p:pic>
        <p:nvPicPr>
          <p:cNvPr id="7" name="Image 5" descr="/home/user/miaparkocean/sunum/kaynak/foto/gal-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44" y="3200400"/>
            <a:ext cx="6464808" cy="31272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64556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spc="260" kern="0" dirty="0">
                <a:solidFill>
                  <a:srgbClr val="E0CB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PROJE GÖRSELLERİ</a:t>
            </a:r>
            <a:endParaRPr lang="en-US" sz="800" dirty="0"/>
          </a:p>
        </p:txBody>
      </p:sp>
      <p:sp>
        <p:nvSpPr>
          <p:cNvPr id="9" name="Text 1"/>
          <p:cNvSpPr/>
          <p:nvPr/>
        </p:nvSpPr>
        <p:spPr>
          <a:xfrm>
            <a:off x="6751015" y="64556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spc="120" kern="0" dirty="0">
                <a:solidFill>
                  <a:srgbClr val="5C6B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Görseller projenin kendi render'larıdır.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86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40" kern="0" dirty="0">
                <a:solidFill>
                  <a:srgbClr val="C9A9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ÖZET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8680" y="11338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Neden MİA PARK OCEAN?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22128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3347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7977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Merkezi Lokasyon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821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D100'e 1 dk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1688" y="263347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277977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Gelişen MİA Bölgesi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1688" y="31821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Yeni ticari aks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54696" y="263347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696" y="277977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472 Adet 1+0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54696" y="31821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Kompakt stok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363931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8561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112 Adet 1+1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Dengeli ürün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363931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378561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 Ay Vade Farksız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61688" y="41879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Banka, faiz, kefil yok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54696" y="3639312"/>
            <a:ext cx="3145536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54696" y="3785616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Geniş Müşteri Profili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54696" y="41879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E63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Beş ayrı persona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12191695" cy="1243584"/>
          </a:xfrm>
          <a:prstGeom prst="rect">
            <a:avLst/>
          </a:prstGeom>
          <a:solidFill>
            <a:srgbClr val="06192B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956048"/>
            <a:ext cx="1219169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3ED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Doğru Konum.  Doğru Ürün.  Güçlü Satış Hikâyesi.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spc="220" kern="0" dirty="0">
                <a:solidFill>
                  <a:srgbClr val="9A90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MİA PARK OCEAN  ·  İZMİT MİA BÖLGESİ  ·  OCEAN GAYRİMENKUL, TEK YETKİLİ SATICI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iaparkocean/sunum/kaynak/foto/tam-kapan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iaparkocean/sunum/kaynak/perde-kapan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home/user/miaparkocean/public/brand/logo-oce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31520"/>
            <a:ext cx="3017520" cy="206654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68680" y="3127248"/>
            <a:ext cx="11887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68680" y="3401568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İzmit'in Yeni Satış Fırsatını</a:t>
            </a:r>
            <a:endParaRPr lang="en-US" sz="3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Portföyünüze Ekleyin.</a:t>
            </a:r>
            <a:endParaRPr lang="en-US" sz="3300" dirty="0"/>
          </a:p>
        </p:txBody>
      </p:sp>
      <p:sp>
        <p:nvSpPr>
          <p:cNvPr id="7" name="Text 2"/>
          <p:cNvSpPr/>
          <p:nvPr/>
        </p:nvSpPr>
        <p:spPr>
          <a:xfrm>
            <a:off x="868680" y="50109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0540 028 00 41   ·   0541 128 40 41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868680" y="5394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info@oceangayrimenkul41.com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68680" y="5779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miaparkocean.com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7573975" y="4956048"/>
            <a:ext cx="3749040" cy="78638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6"/>
          <p:cNvSpPr/>
          <p:nvPr/>
        </p:nvSpPr>
        <p:spPr>
          <a:xfrm>
            <a:off x="7573975" y="495604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619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Satış Ekibimizle İletişime Geçin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573975" y="5852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spc="22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OCEAN GAYRİMENKUL — TEK YETKİLİ SATICI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68680" y="6345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spc="160" kern="0" dirty="0">
                <a:solidFill>
                  <a:srgbClr val="AFC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S.S. Yahya Kaptan Birlik Yapı Kooperatifi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MİA PARK OCEAN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MİA PARK OCEAN — Emlakçı Sunumu</dc:title>
  <dc:subject>İzmit MİA Bölgesi · Broker Presentation</dc:subject>
  <dc:creator>Ocean Gayrimenkul</dc:creator>
  <cp:lastModifiedBy>Ocean Gayrimenkul</cp:lastModifiedBy>
  <cp:revision>1</cp:revision>
  <dcterms:created xsi:type="dcterms:W3CDTF">2026-08-20T18:54:13Z</dcterms:created>
  <dcterms:modified xsi:type="dcterms:W3CDTF">2026-08-20T18:54:13Z</dcterms:modified>
</cp:coreProperties>
</file>